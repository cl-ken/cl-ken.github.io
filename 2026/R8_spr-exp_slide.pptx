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0"/>
    <a:srgbClr val="0090FF"/>
    <a:srgbClr val="FFFFFF"/>
    <a:srgbClr val="FFBF00"/>
    <a:srgbClr val="FFF9D7"/>
    <a:srgbClr val="FFF0A1"/>
    <a:srgbClr val="FFED78"/>
    <a:srgbClr val="FF42A1"/>
    <a:srgbClr val="EC792B"/>
    <a:srgbClr val="FF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CD21C-DE74-43FC-8049-DEC4913192C2}" v="1" dt="2026-05-01T16:18:09.659"/>
    <p1510:client id="{B338AD6F-CAD6-4903-B6E8-B8AD98EBB50E}" v="2" dt="2026-05-01T16:23:03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6242" autoAdjust="0"/>
  </p:normalViewPr>
  <p:slideViewPr>
    <p:cSldViewPr snapToGrid="0">
      <p:cViewPr varScale="1">
        <p:scale>
          <a:sx n="97" d="100"/>
          <a:sy n="97" d="100"/>
        </p:scale>
        <p:origin x="1512" y="90"/>
      </p:cViewPr>
      <p:guideLst>
        <p:guide orient="horz" pos="2381"/>
        <p:guide pos="33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73E12-B3D2-4CC1-9F93-8FAC42DF89C6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56E0-8D2D-4177-AEEB-66A500BB1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3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5998736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32" y="1506527"/>
            <a:ext cx="2088018" cy="670226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（班名）</a:t>
            </a:r>
          </a:p>
        </p:txBody>
      </p:sp>
      <p:sp>
        <p:nvSpPr>
          <p:cNvPr id="39" name="テキスト プレースホルダー 38">
            <a:extLst>
              <a:ext uri="{FF2B5EF4-FFF2-40B4-BE49-F238E27FC236}">
                <a16:creationId xmlns:a16="http://schemas.microsoft.com/office/drawing/2014/main" id="{35D7F784-DFF9-CB6F-6C65-0106BB00E5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002" y="5998736"/>
            <a:ext cx="4991904" cy="10165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（研究室名）</a:t>
            </a:r>
          </a:p>
        </p:txBody>
      </p:sp>
      <p:sp>
        <p:nvSpPr>
          <p:cNvPr id="40" name="テキスト プレースホルダー 38">
            <a:extLst>
              <a:ext uri="{FF2B5EF4-FFF2-40B4-BE49-F238E27FC236}">
                <a16:creationId xmlns:a16="http://schemas.microsoft.com/office/drawing/2014/main" id="{B07F4C22-7659-A0BA-B20C-9DB0D86A58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 dirty="0"/>
              <a:t>発表者</a:t>
            </a:r>
            <a:r>
              <a:rPr kumimoji="1" lang="en-US" altLang="ja-JP" dirty="0"/>
              <a:t>:</a:t>
            </a:r>
            <a:r>
              <a:rPr kumimoji="1" lang="ja-JP" altLang="en-US" dirty="0"/>
              <a:t>（発表者名）</a:t>
            </a:r>
            <a:endParaRPr kumimoji="1" lang="en-US" altLang="ja-JP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0C97A5A8-7538-45A0-A3AB-57C322E84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632" y="2191844"/>
            <a:ext cx="7350405" cy="1733549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7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60391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5A12FD8F-0F3C-B605-B6FA-B4384A429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28035"/>
            <a:ext cx="10665945" cy="5296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400" b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150000"/>
              </a:lnSpc>
              <a:buFont typeface="Wingdings" panose="05000000000000000000" pitchFamily="2" charset="2"/>
              <a:buChar char="u"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92556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5921E05D-178E-9CD4-AF54-F3A10F690D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68572"/>
            <a:ext cx="5345907" cy="56467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685800" indent="-685800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 sz="2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5A12FD8F-0F3C-B605-B6FA-B4384A429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28035"/>
            <a:ext cx="10665945" cy="5296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400" b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66431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65945" cy="4678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338269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3071425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7">
            <a:extLst>
              <a:ext uri="{FF2B5EF4-FFF2-40B4-BE49-F238E27FC236}">
                <a16:creationId xmlns:a16="http://schemas.microsoft.com/office/drawing/2014/main" id="{ACFDEB75-DCFB-9F1D-32D0-58CD672DA4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907" y="1982897"/>
            <a:ext cx="8360904" cy="41063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4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7" y="1320088"/>
            <a:ext cx="1054100" cy="1071010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508ABE-9699-CA25-4D05-3AED8291DD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6907" y="1320089"/>
            <a:ext cx="8360904" cy="6628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sp>
        <p:nvSpPr>
          <p:cNvPr id="6" name="テキスト プレースホルダー 17">
            <a:extLst>
              <a:ext uri="{FF2B5EF4-FFF2-40B4-BE49-F238E27FC236}">
                <a16:creationId xmlns:a16="http://schemas.microsoft.com/office/drawing/2014/main" id="{5EBDA6E0-0F8F-B566-67D1-8B90BC1A37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7" y="4664881"/>
            <a:ext cx="5791399" cy="1571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360363" indent="-360363">
              <a:lnSpc>
                <a:spcPct val="100000"/>
              </a:lnSpc>
              <a:buFont typeface="Wingdings" panose="05000000000000000000" pitchFamily="2" charset="2"/>
              <a:buChar char="u"/>
              <a:defRPr sz="2000" b="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8" name="テキスト プレースホルダー 38">
            <a:extLst>
              <a:ext uri="{FF2B5EF4-FFF2-40B4-BE49-F238E27FC236}">
                <a16:creationId xmlns:a16="http://schemas.microsoft.com/office/drawing/2014/main" id="{5B993C10-258D-F029-EECB-1E53F8AD03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発表者</a:t>
            </a:r>
            <a:r>
              <a:rPr kumimoji="1" lang="en-US" altLang="ja-JP"/>
              <a:t>:</a:t>
            </a:r>
            <a:r>
              <a:rPr kumimoji="1" lang="ja-JP" altLang="en-US"/>
              <a:t>（発表者名）</a:t>
            </a:r>
          </a:p>
        </p:txBody>
      </p:sp>
    </p:spTree>
    <p:extLst>
      <p:ext uri="{BB962C8B-B14F-4D97-AF65-F5344CB8AC3E}">
        <p14:creationId xmlns:p14="http://schemas.microsoft.com/office/powerpoint/2010/main" val="310772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54C0F-D52D-4637-BD6F-C60D88F0DA64}" type="datetimeFigureOut">
              <a:rPr kumimoji="1" lang="ja-JP" altLang="en-US" smtClean="0"/>
              <a:pPr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FBE8C-8092-4725-BF1C-D62B9ACA2D6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44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63" r:id="rId4"/>
    <p:sldLayoutId id="2147483666" r:id="rId5"/>
    <p:sldLayoutId id="2147483664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00" b="1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ence-illust.com/single-channel-micropipette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db.com/kenq/illust/transfer-pipette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db.com/kenq/illust/measuring-pipette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wdb.com/kenq/illust/safety-pipette-filler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irasutoya.com/2020/09/blog-post_500.html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5199CF-07F1-2D81-A0A6-7E7EEFAFD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631" y="1506527"/>
            <a:ext cx="4991903" cy="670226"/>
          </a:xfrm>
          <a:effectLst/>
        </p:spPr>
        <p:txBody>
          <a:bodyPr>
            <a:noAutofit/>
          </a:bodyPr>
          <a:lstStyle/>
          <a:p>
            <a:r>
              <a:rPr kumimoji="1" lang="ja-JP" altLang="en-US" sz="2800" dirty="0"/>
              <a:t>バイオサイエンス学術研究会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079E9B-12F2-E265-19CA-24E2151115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sz="2400" dirty="0"/>
              <a:t>実験長</a:t>
            </a:r>
            <a:r>
              <a:rPr lang="en-US" altLang="ja-JP" sz="2400" dirty="0"/>
              <a:t>: </a:t>
            </a:r>
            <a:r>
              <a:rPr lang="ja-JP" altLang="en-US" sz="2400" dirty="0"/>
              <a:t>寺谷優輝</a:t>
            </a:r>
            <a:endParaRPr lang="en-US" altLang="ja-JP" sz="2400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30204CBD-7B1E-5C41-FC84-0B74C162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9600" dirty="0"/>
              <a:t>実験体験会</a:t>
            </a:r>
          </a:p>
        </p:txBody>
      </p:sp>
    </p:spTree>
    <p:extLst>
      <p:ext uri="{BB962C8B-B14F-4D97-AF65-F5344CB8AC3E}">
        <p14:creationId xmlns:p14="http://schemas.microsoft.com/office/powerpoint/2010/main" val="276655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70F193D-7924-4FAC-CA3F-66B6AEE0A2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各ピペットの使い方と精度について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A6B3C7-0C47-AF2D-D78C-F9C94B9319D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endParaRPr kumimoji="1" lang="ja-JP" altLang="en-US" sz="4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0019F7B-FFAF-471A-D521-4BEB20A6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907" y="1320089"/>
            <a:ext cx="8714906" cy="662808"/>
          </a:xfrm>
        </p:spPr>
        <p:txBody>
          <a:bodyPr/>
          <a:lstStyle/>
          <a:p>
            <a:r>
              <a:rPr kumimoji="1" lang="en-US" altLang="ja-JP" sz="3600" dirty="0"/>
              <a:t>1 mL</a:t>
            </a:r>
            <a:r>
              <a:rPr kumimoji="1" lang="ja-JP" altLang="en-US" sz="3600" dirty="0"/>
              <a:t>以下の溶液を正確に量り取りたい！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ADC493-36E2-C31E-3957-FCFED88DA2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ピペットの種類</a:t>
            </a:r>
            <a:r>
              <a:rPr lang="ja-JP" altLang="en-US" dirty="0"/>
              <a:t>と精度</a:t>
            </a:r>
            <a:endParaRPr lang="en-US" altLang="ja-JP" dirty="0"/>
          </a:p>
          <a:p>
            <a:r>
              <a:rPr kumimoji="1" lang="ja-JP" altLang="en-US" dirty="0"/>
              <a:t>安全ピペッターの使い方</a:t>
            </a:r>
            <a:endParaRPr kumimoji="1" lang="en-US" altLang="ja-JP" dirty="0"/>
          </a:p>
          <a:p>
            <a:r>
              <a:rPr lang="ja-JP" altLang="en-US" dirty="0"/>
              <a:t>ピペットマンの使い方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1831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FF1D9E-1053-928E-5339-408F844B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ピペットマン</a:t>
            </a:r>
            <a:r>
              <a:rPr kumimoji="1" lang="en-US" altLang="ja-JP" dirty="0"/>
              <a:t>(</a:t>
            </a:r>
            <a:r>
              <a:rPr kumimoji="1" lang="ja-JP" altLang="en-US" dirty="0"/>
              <a:t>オートピペット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D20FD2-9C97-5C8C-FFE2-BEAF764AD0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kumimoji="1" lang="ja-JP" altLang="en-US" sz="2800" dirty="0"/>
              <a:t>ピペットの中で唯一</a:t>
            </a:r>
            <a:r>
              <a:rPr lang="ja-JP" altLang="en-US" dirty="0"/>
              <a:t>，</a:t>
            </a:r>
            <a:r>
              <a:rPr lang="ja-JP" altLang="en-US" dirty="0">
                <a:solidFill>
                  <a:schemeClr val="accent6"/>
                </a:solidFill>
              </a:rPr>
              <a:t>マイクロリットル分</a:t>
            </a:r>
            <a:r>
              <a:rPr lang="ja-JP" altLang="en-US" dirty="0"/>
              <a:t>量り取れる</a:t>
            </a:r>
            <a:r>
              <a:rPr kumimoji="1" lang="ja-JP" altLang="en-US" sz="2800" dirty="0"/>
              <a:t>．</a:t>
            </a:r>
            <a:endParaRPr kumimoji="1" lang="en-US" altLang="ja-JP" sz="2800" dirty="0"/>
          </a:p>
          <a:p>
            <a:pPr>
              <a:buClr>
                <a:schemeClr val="tx1"/>
              </a:buClr>
            </a:pPr>
            <a:r>
              <a:rPr kumimoji="1" lang="ja-JP" altLang="en-US" sz="2800" dirty="0"/>
              <a:t>チップを付けて溶液を吸う．</a:t>
            </a:r>
            <a:endParaRPr kumimoji="1" lang="en-US" altLang="ja-JP" sz="2800" dirty="0"/>
          </a:p>
          <a:p>
            <a:pPr>
              <a:buClr>
                <a:schemeClr val="tx1"/>
              </a:buClr>
            </a:pPr>
            <a:r>
              <a:rPr lang="ja-JP" altLang="en-US" sz="2800" dirty="0">
                <a:solidFill>
                  <a:schemeClr val="accent6"/>
                </a:solidFill>
              </a:rPr>
              <a:t>吸い上げるときは</a:t>
            </a:r>
            <a:r>
              <a:rPr lang="ja-JP" altLang="en-US" sz="2800" dirty="0"/>
              <a:t>プッシュボタンを</a:t>
            </a:r>
            <a:r>
              <a:rPr lang="en-US" altLang="ja-JP" sz="2800" dirty="0">
                <a:solidFill>
                  <a:schemeClr val="accent6"/>
                </a:solidFill>
              </a:rPr>
              <a:t>1</a:t>
            </a:r>
            <a:r>
              <a:rPr lang="ja-JP" altLang="en-US" sz="2800" dirty="0">
                <a:solidFill>
                  <a:schemeClr val="accent6"/>
                </a:solidFill>
              </a:rPr>
              <a:t>段目まで</a:t>
            </a:r>
            <a:r>
              <a:rPr lang="ja-JP" altLang="en-US" sz="2800" dirty="0"/>
              <a:t>押し下げ，</a:t>
            </a:r>
            <a:r>
              <a:rPr lang="ja-JP" altLang="en-US" sz="2800" dirty="0">
                <a:solidFill>
                  <a:schemeClr val="accent6"/>
                </a:solidFill>
              </a:rPr>
              <a:t>ゆっくりと</a:t>
            </a:r>
            <a:r>
              <a:rPr lang="ja-JP" altLang="en-US" sz="2800" dirty="0"/>
              <a:t>押し上げる．</a:t>
            </a:r>
            <a:endParaRPr lang="en-US" altLang="ja-JP" sz="2800" dirty="0"/>
          </a:p>
          <a:p>
            <a:pPr>
              <a:buClr>
                <a:schemeClr val="tx1"/>
              </a:buClr>
            </a:pPr>
            <a:r>
              <a:rPr kumimoji="1" lang="ja-JP" altLang="en-US" sz="2800" dirty="0">
                <a:solidFill>
                  <a:schemeClr val="accent6"/>
                </a:solidFill>
              </a:rPr>
              <a:t>吐き出すときは</a:t>
            </a:r>
            <a:r>
              <a:rPr kumimoji="1" lang="en-US" altLang="ja-JP" sz="2800" dirty="0">
                <a:solidFill>
                  <a:schemeClr val="accent6"/>
                </a:solidFill>
              </a:rPr>
              <a:t>2</a:t>
            </a:r>
            <a:r>
              <a:rPr kumimoji="1" lang="ja-JP" altLang="en-US" sz="2800" dirty="0">
                <a:solidFill>
                  <a:schemeClr val="accent6"/>
                </a:solidFill>
              </a:rPr>
              <a:t>段目まで</a:t>
            </a:r>
            <a:r>
              <a:rPr kumimoji="1" lang="ja-JP" altLang="en-US" sz="2800" dirty="0"/>
              <a:t>押して溶液を出し切る．</a:t>
            </a:r>
            <a:endParaRPr kumimoji="1" lang="en-US" altLang="ja-JP" sz="2800" dirty="0"/>
          </a:p>
          <a:p>
            <a:pPr>
              <a:buClr>
                <a:schemeClr val="tx1"/>
              </a:buClr>
            </a:pPr>
            <a:r>
              <a:rPr kumimoji="1" lang="ja-JP" altLang="en-US" sz="2800" dirty="0"/>
              <a:t>チップに溶液が入っているときは，</a:t>
            </a:r>
            <a:r>
              <a:rPr kumimoji="1" lang="ja-JP" altLang="en-US" sz="2800" dirty="0">
                <a:solidFill>
                  <a:schemeClr val="accent6"/>
                </a:solidFill>
              </a:rPr>
              <a:t>決して横向きにしてはいけない</a:t>
            </a:r>
            <a:r>
              <a:rPr kumimoji="1" lang="ja-JP" altLang="en-US" sz="2800" dirty="0"/>
              <a:t>．</a:t>
            </a:r>
            <a:endParaRPr kumimoji="1" lang="en-US" altLang="ja-JP" sz="28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B32E37-2FFE-F782-15FA-59E7CB7A5A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ja-JP" altLang="en-US" dirty="0"/>
              <a:t>引用</a:t>
            </a:r>
            <a:r>
              <a:rPr lang="en-US" altLang="ja-JP" dirty="0"/>
              <a:t>: </a:t>
            </a:r>
            <a:r>
              <a:rPr lang="ja-JP" altLang="en-US" dirty="0"/>
              <a:t>化学イラスト，</a:t>
            </a:r>
            <a:r>
              <a:rPr lang="en-US" altLang="ja-JP" dirty="0">
                <a:hlinkClick r:id="rId2"/>
              </a:rPr>
              <a:t>https://science-illust.com/single-channel-micropipettes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マイクロピペット&#10;青いチップ">
            <a:extLst>
              <a:ext uri="{FF2B5EF4-FFF2-40B4-BE49-F238E27FC236}">
                <a16:creationId xmlns:a16="http://schemas.microsoft.com/office/drawing/2014/main" id="{EDF86F76-853E-33F6-6BFB-13659482B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59" y="1731998"/>
            <a:ext cx="1473668" cy="4642055"/>
          </a:xfrm>
          <a:prstGeom prst="rect">
            <a:avLst/>
          </a:prstGeom>
        </p:spPr>
      </p:pic>
      <p:pic>
        <p:nvPicPr>
          <p:cNvPr id="6" name="図 5" descr="マイクロピペット2&#10;黄色いチップ">
            <a:extLst>
              <a:ext uri="{FF2B5EF4-FFF2-40B4-BE49-F238E27FC236}">
                <a16:creationId xmlns:a16="http://schemas.microsoft.com/office/drawing/2014/main" id="{434C985D-64FD-056A-97F1-D71E71E5C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212" y="1731998"/>
            <a:ext cx="1485458" cy="464205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1DA7FD-3BF6-5BFB-36BA-A7FC47C90D72}"/>
              </a:ext>
            </a:extLst>
          </p:cNvPr>
          <p:cNvSpPr txBox="1"/>
          <p:nvPr/>
        </p:nvSpPr>
        <p:spPr>
          <a:xfrm>
            <a:off x="748518" y="6366519"/>
            <a:ext cx="148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P1000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19DC03-D7AA-400A-7A70-2DC8CC6E3E96}"/>
              </a:ext>
            </a:extLst>
          </p:cNvPr>
          <p:cNvSpPr txBox="1"/>
          <p:nvPr/>
        </p:nvSpPr>
        <p:spPr>
          <a:xfrm>
            <a:off x="2909561" y="6366518"/>
            <a:ext cx="148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P100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502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84F3A-0DA6-F202-D70B-61C204C0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ホールピペット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1CCDAE-D06B-A980-7F85-78E99E02DD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ja-JP" altLang="en-US" dirty="0"/>
              <a:t>ピペットの中で</a:t>
            </a:r>
            <a:r>
              <a:rPr kumimoji="1" lang="ja-JP" altLang="en-US" dirty="0">
                <a:solidFill>
                  <a:schemeClr val="accent6"/>
                </a:solidFill>
              </a:rPr>
              <a:t>一番精度が高い</a:t>
            </a:r>
            <a:r>
              <a:rPr kumimoji="1" lang="ja-JP" altLang="en-US" dirty="0"/>
              <a:t>．</a:t>
            </a:r>
            <a:endParaRPr kumimoji="1" lang="en-US" altLang="ja-JP" dirty="0"/>
          </a:p>
          <a:p>
            <a:r>
              <a:rPr kumimoji="1" lang="ja-JP" altLang="en-US" dirty="0">
                <a:solidFill>
                  <a:schemeClr val="accent6"/>
                </a:solidFill>
              </a:rPr>
              <a:t>特定の液量</a:t>
            </a:r>
            <a:r>
              <a:rPr kumimoji="1" lang="ja-JP" altLang="en-US" dirty="0"/>
              <a:t>を正確に量り取るときに用いる．</a:t>
            </a:r>
            <a:endParaRPr kumimoji="1" lang="en-US" altLang="ja-JP" dirty="0"/>
          </a:p>
          <a:p>
            <a:r>
              <a:rPr kumimoji="1" lang="ja-JP" altLang="en-US" dirty="0"/>
              <a:t>使用溶液を用いて</a:t>
            </a:r>
            <a:r>
              <a:rPr kumimoji="1" lang="en-US" altLang="ja-JP" dirty="0"/>
              <a:t>2,3</a:t>
            </a:r>
            <a:r>
              <a:rPr kumimoji="1" lang="ja-JP" altLang="en-US" dirty="0"/>
              <a:t>回吸って吐いてを繰り返す（</a:t>
            </a:r>
            <a:r>
              <a:rPr kumimoji="1" lang="ja-JP" altLang="en-US" dirty="0">
                <a:solidFill>
                  <a:schemeClr val="accent6"/>
                </a:solidFill>
              </a:rPr>
              <a:t>共洗い</a:t>
            </a:r>
            <a:r>
              <a:rPr kumimoji="1" lang="ja-JP" altLang="en-US" dirty="0"/>
              <a:t>）．</a:t>
            </a:r>
            <a:endParaRPr kumimoji="1" lang="en-US" altLang="ja-JP" dirty="0"/>
          </a:p>
          <a:p>
            <a:r>
              <a:rPr kumimoji="1" lang="ja-JP" altLang="en-US" dirty="0"/>
              <a:t>安全ピペッターを用いて，</a:t>
            </a:r>
            <a:r>
              <a:rPr kumimoji="1" lang="ja-JP" altLang="en-US" dirty="0">
                <a:solidFill>
                  <a:schemeClr val="accent6"/>
                </a:solidFill>
              </a:rPr>
              <a:t>標線まで</a:t>
            </a:r>
            <a:r>
              <a:rPr kumimoji="1" lang="ja-JP" altLang="en-US" dirty="0"/>
              <a:t>溶液を吸いあげる．</a:t>
            </a:r>
            <a:endParaRPr kumimoji="1" lang="en-US" altLang="ja-JP" dirty="0"/>
          </a:p>
          <a:p>
            <a:r>
              <a:rPr lang="ja-JP" altLang="en-US" dirty="0"/>
              <a:t>ピペットの先端に残った溶液はろ紙などで吸い取る．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983382-14B9-AFD0-E9F6-DA074F1743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https://www.wdb.com/kenq/illust/transfer-pipette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ホールピペット">
            <a:extLst>
              <a:ext uri="{FF2B5EF4-FFF2-40B4-BE49-F238E27FC236}">
                <a16:creationId xmlns:a16="http://schemas.microsoft.com/office/drawing/2014/main" id="{AB20FFB2-DF3F-5B93-FAB3-08026D53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13" r="42688"/>
          <a:stretch>
            <a:fillRect/>
          </a:stretch>
        </p:blipFill>
        <p:spPr>
          <a:xfrm>
            <a:off x="2261424" y="1905954"/>
            <a:ext cx="717755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AEEC3-9601-74AE-D429-EB789A548880}"/>
              </a:ext>
            </a:extLst>
          </p:cNvPr>
          <p:cNvSpPr txBox="1"/>
          <p:nvPr/>
        </p:nvSpPr>
        <p:spPr>
          <a:xfrm>
            <a:off x="2890689" y="252689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← 標線</a:t>
            </a:r>
          </a:p>
        </p:txBody>
      </p:sp>
    </p:spTree>
    <p:extLst>
      <p:ext uri="{BB962C8B-B14F-4D97-AF65-F5344CB8AC3E}">
        <p14:creationId xmlns:p14="http://schemas.microsoft.com/office/powerpoint/2010/main" val="422458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25581C-7F14-4F3E-AEC2-0DE3DC961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メスピペット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5A9C4F-17BB-8DFB-C9D2-721F6FA7BF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ホールピペットよりもやや精度は劣る．</a:t>
            </a:r>
            <a:endParaRPr kumimoji="1" lang="en-US" altLang="ja-JP" dirty="0"/>
          </a:p>
          <a:p>
            <a:r>
              <a:rPr kumimoji="1" lang="ja-JP" altLang="en-US" dirty="0">
                <a:solidFill>
                  <a:schemeClr val="accent6"/>
                </a:solidFill>
              </a:rPr>
              <a:t>任意の液量</a:t>
            </a:r>
            <a:r>
              <a:rPr kumimoji="1" lang="ja-JP" altLang="en-US" dirty="0"/>
              <a:t>を正確に量り取るときに用いる．</a:t>
            </a:r>
            <a:endParaRPr kumimoji="1" lang="en-US" altLang="ja-JP" dirty="0"/>
          </a:p>
          <a:p>
            <a:r>
              <a:rPr lang="ja-JP" altLang="en-US" dirty="0"/>
              <a:t>使用溶液を用いて</a:t>
            </a:r>
            <a:r>
              <a:rPr lang="en-US" altLang="ja-JP" dirty="0"/>
              <a:t>2,3</a:t>
            </a:r>
            <a:r>
              <a:rPr lang="ja-JP" altLang="en-US" dirty="0"/>
              <a:t>回吸って吐いてを繰り返す（</a:t>
            </a:r>
            <a:r>
              <a:rPr lang="ja-JP" altLang="en-US" dirty="0">
                <a:solidFill>
                  <a:schemeClr val="accent6"/>
                </a:solidFill>
              </a:rPr>
              <a:t>共洗い</a:t>
            </a:r>
            <a:r>
              <a:rPr lang="ja-JP" altLang="en-US" dirty="0"/>
              <a:t>）．</a:t>
            </a:r>
            <a:endParaRPr kumimoji="1" lang="en-US" altLang="ja-JP" dirty="0"/>
          </a:p>
          <a:p>
            <a:r>
              <a:rPr lang="ja-JP" altLang="en-US" dirty="0"/>
              <a:t>安全ピペッターを用いて，</a:t>
            </a:r>
            <a:r>
              <a:rPr lang="ja-JP" altLang="en-US" dirty="0">
                <a:solidFill>
                  <a:schemeClr val="accent6"/>
                </a:solidFill>
              </a:rPr>
              <a:t>メモリ</a:t>
            </a:r>
            <a:r>
              <a:rPr lang="en-US" altLang="ja-JP" dirty="0">
                <a:solidFill>
                  <a:schemeClr val="accent6"/>
                </a:solidFill>
              </a:rPr>
              <a:t>A</a:t>
            </a:r>
            <a:r>
              <a:rPr lang="ja-JP" altLang="en-US" dirty="0">
                <a:solidFill>
                  <a:schemeClr val="accent6"/>
                </a:solidFill>
              </a:rPr>
              <a:t>まで吸い上げ，メモリ</a:t>
            </a:r>
            <a:r>
              <a:rPr lang="en-US" altLang="ja-JP" dirty="0">
                <a:solidFill>
                  <a:schemeClr val="accent6"/>
                </a:solidFill>
              </a:rPr>
              <a:t>B</a:t>
            </a:r>
            <a:r>
              <a:rPr lang="ja-JP" altLang="en-US" dirty="0">
                <a:solidFill>
                  <a:schemeClr val="accent6"/>
                </a:solidFill>
              </a:rPr>
              <a:t>まで吐き出して</a:t>
            </a:r>
            <a:r>
              <a:rPr lang="ja-JP" altLang="en-US" dirty="0"/>
              <a:t>使う．</a:t>
            </a:r>
            <a:endParaRPr lang="en-US" altLang="ja-JP" dirty="0"/>
          </a:p>
          <a:p>
            <a:r>
              <a:rPr kumimoji="1" lang="en-US" altLang="ja-JP" dirty="0"/>
              <a:t>B</a:t>
            </a:r>
            <a:r>
              <a:rPr lang="en-US" altLang="ja-JP" dirty="0"/>
              <a:t>-A</a:t>
            </a:r>
            <a:r>
              <a:rPr lang="ja-JP" altLang="en-US" dirty="0"/>
              <a:t>をすることで目標の体積を量ることができる．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076096-E214-A8EE-C18B-3FAD5E0652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https://www.wdb.com/kenq/illust/measuring-pipette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メスピペット">
            <a:extLst>
              <a:ext uri="{FF2B5EF4-FFF2-40B4-BE49-F238E27FC236}">
                <a16:creationId xmlns:a16="http://schemas.microsoft.com/office/drawing/2014/main" id="{15AF3176-5BB4-309B-EB49-24976326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73" r="42903"/>
          <a:stretch>
            <a:fillRect/>
          </a:stretch>
        </p:blipFill>
        <p:spPr>
          <a:xfrm>
            <a:off x="2428568" y="1875181"/>
            <a:ext cx="66859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4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A5803-60AC-30FD-C35C-852B19E9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安全</a:t>
            </a:r>
            <a:r>
              <a:rPr kumimoji="1" lang="ja-JP" altLang="en-US" dirty="0"/>
              <a:t>ピペッターの使い方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5AA725-9F8B-2B7F-1441-16E8A98092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ピペットを差し込む（深く差し込まない）．</a:t>
            </a:r>
            <a:endParaRPr kumimoji="1" lang="en-US" altLang="ja-JP" dirty="0"/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Ⓐ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を親指と人差し指で押さえながら，</a:t>
            </a:r>
            <a:r>
              <a:rPr lang="ja-JP" altLang="en-US" dirty="0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ゴム球を圧縮して空気を抜く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．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メモリを見ながら</a:t>
            </a:r>
            <a:r>
              <a:rPr kumimoji="1" lang="ja-JP" altLang="en-US" dirty="0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Ⓢを押すと溶液が吸入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する．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目的の液量になったらⓈを放す．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lang="ja-JP" altLang="en-US" dirty="0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Ⓔを押すと液が滴下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される．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※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を押して先端の溶液を排出する．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71F519-614A-91F0-A48B-01DBBA0532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https://www.wdb.com/kenq/illust/safety-pipette-filler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安全ピペッター">
            <a:extLst>
              <a:ext uri="{FF2B5EF4-FFF2-40B4-BE49-F238E27FC236}">
                <a16:creationId xmlns:a16="http://schemas.microsoft.com/office/drawing/2014/main" id="{9BBFC826-D470-5C03-6BC5-55CBC040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77" r="21398"/>
          <a:stretch>
            <a:fillRect/>
          </a:stretch>
        </p:blipFill>
        <p:spPr>
          <a:xfrm>
            <a:off x="1406013" y="1905954"/>
            <a:ext cx="2694040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7B0A7E-5006-3A59-0DE2-E4A50EB8F2E9}"/>
              </a:ext>
            </a:extLst>
          </p:cNvPr>
          <p:cNvSpPr txBox="1"/>
          <p:nvPr/>
        </p:nvSpPr>
        <p:spPr>
          <a:xfrm>
            <a:off x="2379406" y="2271253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A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E1599D-4FB7-A4FF-1AAB-7B66F77DD682}"/>
              </a:ext>
            </a:extLst>
          </p:cNvPr>
          <p:cNvSpPr txBox="1"/>
          <p:nvPr/>
        </p:nvSpPr>
        <p:spPr>
          <a:xfrm>
            <a:off x="2369574" y="4704736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S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E29FC3-8D32-B694-457B-9E552003104B}"/>
              </a:ext>
            </a:extLst>
          </p:cNvPr>
          <p:cNvSpPr txBox="1"/>
          <p:nvPr/>
        </p:nvSpPr>
        <p:spPr>
          <a:xfrm>
            <a:off x="2821857" y="5031227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E</a:t>
            </a:r>
            <a:endParaRPr kumimoji="1" lang="ja-JP" altLang="en-US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EDE89-958D-C7B8-3217-418127BC45D5}"/>
              </a:ext>
            </a:extLst>
          </p:cNvPr>
          <p:cNvSpPr txBox="1"/>
          <p:nvPr/>
        </p:nvSpPr>
        <p:spPr>
          <a:xfrm>
            <a:off x="924230" y="230030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排気 →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8438F6-EB2E-82FA-51BB-89E7A5CAC0A8}"/>
              </a:ext>
            </a:extLst>
          </p:cNvPr>
          <p:cNvSpPr txBox="1"/>
          <p:nvPr/>
        </p:nvSpPr>
        <p:spPr>
          <a:xfrm>
            <a:off x="0" y="3549004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ゴム球 →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EC37B2-F3AE-7FD6-7F78-47437A58100B}"/>
              </a:ext>
            </a:extLst>
          </p:cNvPr>
          <p:cNvSpPr txBox="1"/>
          <p:nvPr/>
        </p:nvSpPr>
        <p:spPr>
          <a:xfrm>
            <a:off x="920878" y="4704735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吸入 →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5DE2CF-3325-4FF0-AD7B-C647756C623A}"/>
              </a:ext>
            </a:extLst>
          </p:cNvPr>
          <p:cNvSpPr txBox="1"/>
          <p:nvPr/>
        </p:nvSpPr>
        <p:spPr>
          <a:xfrm>
            <a:off x="2554482" y="549289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↑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排出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80C2222-E72C-0F02-FEF7-304F06873B96}"/>
              </a:ext>
            </a:extLst>
          </p:cNvPr>
          <p:cNvSpPr txBox="1"/>
          <p:nvPr/>
        </p:nvSpPr>
        <p:spPr>
          <a:xfrm>
            <a:off x="3541513" y="5003530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※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845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B6556E-00BA-F9C9-0734-E240050F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駒込ピペット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D9C1CD-6C40-54EC-A083-9A3071DD35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東京都立駒込病院で開発された．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accent6"/>
                </a:solidFill>
              </a:rPr>
              <a:t>安全かつ迅速にサンプルを採取</a:t>
            </a:r>
            <a:r>
              <a:rPr kumimoji="1" lang="ja-JP" altLang="en-US" dirty="0"/>
              <a:t>することが目的である．</a:t>
            </a:r>
            <a:endParaRPr kumimoji="1" lang="en-US" altLang="ja-JP" dirty="0"/>
          </a:p>
          <a:p>
            <a:r>
              <a:rPr kumimoji="1" lang="ja-JP" altLang="en-US" dirty="0">
                <a:solidFill>
                  <a:schemeClr val="accent6"/>
                </a:solidFill>
              </a:rPr>
              <a:t>大まかな溶液量</a:t>
            </a:r>
            <a:r>
              <a:rPr kumimoji="1" lang="ja-JP" altLang="en-US" dirty="0"/>
              <a:t>を量り取るときに用いる．</a:t>
            </a:r>
            <a:endParaRPr kumimoji="1" lang="en-US" altLang="ja-JP" dirty="0"/>
          </a:p>
          <a:p>
            <a:r>
              <a:rPr lang="ja-JP" altLang="en-US" dirty="0"/>
              <a:t>精度は期待してはいけない．</a:t>
            </a:r>
            <a:endParaRPr lang="en-US" altLang="ja-JP" dirty="0"/>
          </a:p>
          <a:p>
            <a:r>
              <a:rPr lang="ja-JP" altLang="en-US" dirty="0"/>
              <a:t>ゴム球を使って液体を吸い上げ，吐き出す．</a:t>
            </a:r>
            <a:endParaRPr lang="en-US" altLang="ja-JP" dirty="0"/>
          </a:p>
          <a:p>
            <a:r>
              <a:rPr lang="ja-JP" altLang="en-US" dirty="0"/>
              <a:t>ゴム球を</a:t>
            </a:r>
            <a:r>
              <a:rPr lang="ja-JP" altLang="en-US" dirty="0">
                <a:solidFill>
                  <a:schemeClr val="accent6"/>
                </a:solidFill>
              </a:rPr>
              <a:t>親指と人差し指で押さえ</a:t>
            </a:r>
            <a:r>
              <a:rPr lang="ja-JP" altLang="en-US" dirty="0"/>
              <a:t>，残りの指を本体に添えて持つ．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D94342-047D-44B4-5DB3-CC67A21E8E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いらすとや，</a:t>
            </a:r>
            <a:r>
              <a:rPr lang="en-US" altLang="ja-JP" dirty="0">
                <a:hlinkClick r:id="rId2"/>
              </a:rPr>
              <a:t>https://www.irasutoya.com/2020/09/blog-post_500.html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6" name="図 5" descr="ゴム付きピペットのイラスト">
            <a:extLst>
              <a:ext uri="{FF2B5EF4-FFF2-40B4-BE49-F238E27FC236}">
                <a16:creationId xmlns:a16="http://schemas.microsoft.com/office/drawing/2014/main" id="{794053D8-6347-DEE1-0F46-C9F360F7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657" y="1925353"/>
            <a:ext cx="816077" cy="447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7811-70ED-301C-0886-C20871DD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3FF51A4-9583-B6A8-4F2C-25303759A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各定容器具の使い方と精度について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CAF82D-76DF-1D0B-A62F-1C88243B91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endParaRPr kumimoji="1" lang="ja-JP" altLang="en-US" sz="4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85A1F55-0F76-6FCF-9823-56596BEB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907" y="1320089"/>
            <a:ext cx="8714906" cy="662808"/>
          </a:xfrm>
        </p:spPr>
        <p:txBody>
          <a:bodyPr/>
          <a:lstStyle/>
          <a:p>
            <a:r>
              <a:rPr kumimoji="1" lang="en-US" altLang="ja-JP" sz="3600" dirty="0"/>
              <a:t>1 mL</a:t>
            </a:r>
            <a:r>
              <a:rPr kumimoji="1" lang="ja-JP" altLang="en-US" sz="3600" dirty="0"/>
              <a:t>以上の溶液を正確に量り取りたい！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0CB918-E921-B406-F54D-D6671A60C7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ビーカーの使用目的</a:t>
            </a:r>
            <a:endParaRPr kumimoji="1" lang="en-US" altLang="ja-JP" dirty="0"/>
          </a:p>
          <a:p>
            <a:r>
              <a:rPr kumimoji="1" lang="ja-JP" altLang="en-US" dirty="0"/>
              <a:t>メスフラスコの使い方と目的</a:t>
            </a:r>
            <a:endParaRPr kumimoji="1" lang="en-US" altLang="ja-JP" dirty="0"/>
          </a:p>
          <a:p>
            <a:r>
              <a:rPr lang="ja-JP" altLang="en-US" dirty="0"/>
              <a:t>メスシリンダの使い方と目的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3398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509</Words>
  <Application>Microsoft Office PowerPoint</Application>
  <PresentationFormat>ユーザー設定</PresentationFormat>
  <Paragraphs>62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ＭＳ ゴシック</vt:lpstr>
      <vt:lpstr>ＭＳ ゴシック</vt:lpstr>
      <vt:lpstr>游ゴシック</vt:lpstr>
      <vt:lpstr>Arial</vt:lpstr>
      <vt:lpstr>Wingdings</vt:lpstr>
      <vt:lpstr>Office テーマ</vt:lpstr>
      <vt:lpstr>実験体験会</vt:lpstr>
      <vt:lpstr>1 mL以下の溶液を正確に量り取りたい！</vt:lpstr>
      <vt:lpstr>ピペットマン(オートピペット)</vt:lpstr>
      <vt:lpstr>ホールピペット</vt:lpstr>
      <vt:lpstr>メスピペット</vt:lpstr>
      <vt:lpstr>安全ピペッターの使い方</vt:lpstr>
      <vt:lpstr>駒込ピペット</vt:lpstr>
      <vt:lpstr>1 mL以上の溶液を正確に量り取りたい！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2026-05-01T16:23:03Z</dcterms:created>
  <dcterms:modified xsi:type="dcterms:W3CDTF">2026-05-13T16:49:24Z</dcterms:modified>
</cp:coreProperties>
</file>