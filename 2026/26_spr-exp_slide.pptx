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  <p:sldMasterId id="2147483669" r:id="rId5"/>
  </p:sldMasterIdLst>
  <p:notesMasterIdLst>
    <p:notesMasterId r:id="rId38"/>
  </p:notesMasterIdLst>
  <p:sldIdLst>
    <p:sldId id="256" r:id="rId6"/>
    <p:sldId id="257" r:id="rId7"/>
    <p:sldId id="258" r:id="rId8"/>
    <p:sldId id="260" r:id="rId9"/>
    <p:sldId id="259" r:id="rId10"/>
    <p:sldId id="262" r:id="rId11"/>
    <p:sldId id="261" r:id="rId12"/>
    <p:sldId id="267" r:id="rId13"/>
    <p:sldId id="311" r:id="rId14"/>
    <p:sldId id="268" r:id="rId15"/>
    <p:sldId id="275" r:id="rId16"/>
    <p:sldId id="274" r:id="rId17"/>
    <p:sldId id="312" r:id="rId18"/>
    <p:sldId id="263" r:id="rId19"/>
    <p:sldId id="266" r:id="rId20"/>
    <p:sldId id="264" r:id="rId21"/>
    <p:sldId id="265" r:id="rId22"/>
    <p:sldId id="269" r:id="rId23"/>
    <p:sldId id="313" r:id="rId24"/>
    <p:sldId id="277" r:id="rId25"/>
    <p:sldId id="278" r:id="rId26"/>
    <p:sldId id="315" r:id="rId27"/>
    <p:sldId id="314" r:id="rId28"/>
    <p:sldId id="271" r:id="rId29"/>
    <p:sldId id="273" r:id="rId30"/>
    <p:sldId id="316" r:id="rId31"/>
    <p:sldId id="317" r:id="rId32"/>
    <p:sldId id="318" r:id="rId33"/>
    <p:sldId id="319" r:id="rId34"/>
    <p:sldId id="272" r:id="rId35"/>
    <p:sldId id="293" r:id="rId36"/>
    <p:sldId id="310" r:id="rId3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2A1"/>
    <a:srgbClr val="00FF90"/>
    <a:srgbClr val="0090FF"/>
    <a:srgbClr val="FFFFFF"/>
    <a:srgbClr val="FFBF00"/>
    <a:srgbClr val="FFF9D7"/>
    <a:srgbClr val="FFF0A1"/>
    <a:srgbClr val="FFED78"/>
    <a:srgbClr val="EC792B"/>
    <a:srgbClr val="FF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01AA6-FBA0-460E-8BC8-07B9D39C1318}" v="100" dt="2026-05-15T14:48:28.675"/>
    <p1510:client id="{EE979D5B-51BB-44B1-A065-56EE5A4AFEC6}" v="76" dt="2026-05-15T19:45:52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60"/>
  </p:normalViewPr>
  <p:slideViewPr>
    <p:cSldViewPr snapToGrid="0">
      <p:cViewPr varScale="1">
        <p:scale>
          <a:sx n="93" d="100"/>
          <a:sy n="93" d="100"/>
        </p:scale>
        <p:origin x="1590" y="96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73E12-B3D2-4CC1-9F93-8FAC42DF89C6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56E0-8D2D-4177-AEEB-66A500BB1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3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5998736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32" y="1506527"/>
            <a:ext cx="2088018" cy="670226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（班名）</a:t>
            </a:r>
          </a:p>
        </p:txBody>
      </p:sp>
      <p:sp>
        <p:nvSpPr>
          <p:cNvPr id="39" name="テキスト プレースホルダー 38">
            <a:extLst>
              <a:ext uri="{FF2B5EF4-FFF2-40B4-BE49-F238E27FC236}">
                <a16:creationId xmlns:a16="http://schemas.microsoft.com/office/drawing/2014/main" id="{35D7F784-DFF9-CB6F-6C65-0106BB00E5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002" y="5998736"/>
            <a:ext cx="4991904" cy="10165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（研究室名）</a:t>
            </a:r>
          </a:p>
        </p:txBody>
      </p:sp>
      <p:sp>
        <p:nvSpPr>
          <p:cNvPr id="40" name="テキスト プレースホルダー 38">
            <a:extLst>
              <a:ext uri="{FF2B5EF4-FFF2-40B4-BE49-F238E27FC236}">
                <a16:creationId xmlns:a16="http://schemas.microsoft.com/office/drawing/2014/main" id="{B07F4C22-7659-A0BA-B20C-9DB0D86A58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発表者</a:t>
            </a:r>
            <a:r>
              <a:rPr kumimoji="1" lang="en-US" altLang="ja-JP"/>
              <a:t>:</a:t>
            </a:r>
            <a:r>
              <a:rPr kumimoji="1" lang="ja-JP" altLang="en-US"/>
              <a:t>（発表者名）</a:t>
            </a:r>
            <a:endParaRPr kumimoji="1" lang="en-US" altLang="ja-JP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0C97A5A8-7538-45A0-A3AB-57C322E84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632" y="2191844"/>
            <a:ext cx="7350405" cy="1733549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7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60391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5A12FD8F-0F3C-B605-B6FA-B4384A429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28035"/>
            <a:ext cx="10665945" cy="5296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400" b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/>
              <a:t>[Ref0] </a:t>
            </a:r>
            <a:r>
              <a:rPr kumimoji="1" lang="ja-JP" altLang="en-US"/>
              <a:t>名前：タイトル，</a:t>
            </a:r>
            <a:r>
              <a:rPr kumimoji="1" lang="en-US" altLang="ja-JP"/>
              <a:t>https:i</a:t>
            </a:r>
          </a:p>
        </p:txBody>
      </p: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150000"/>
              </a:lnSpc>
              <a:buFont typeface="Wingdings" panose="05000000000000000000" pitchFamily="2" charset="2"/>
              <a:buChar char="u"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92556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5921E05D-178E-9CD4-AF54-F3A10F690D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68572"/>
            <a:ext cx="5345907" cy="56467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685800" indent="-685800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 sz="2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5A12FD8F-0F3C-B605-B6FA-B4384A429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28035"/>
            <a:ext cx="10665945" cy="52967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400" b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/>
              <a:t>[Ref0] </a:t>
            </a:r>
            <a:r>
              <a:rPr kumimoji="1" lang="ja-JP" altLang="en-US"/>
              <a:t>名前：タイトル，</a:t>
            </a:r>
            <a:r>
              <a:rPr kumimoji="1" lang="en-US" altLang="ja-JP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66431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65945" cy="4678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48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/>
              <a:t>[Ref0] </a:t>
            </a:r>
            <a:r>
              <a:rPr kumimoji="1" lang="ja-JP" altLang="en-US"/>
              <a:t>名前：タイトル，</a:t>
            </a:r>
            <a:r>
              <a:rPr kumimoji="1" lang="en-US" altLang="ja-JP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338269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3071425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7">
            <a:extLst>
              <a:ext uri="{FF2B5EF4-FFF2-40B4-BE49-F238E27FC236}">
                <a16:creationId xmlns:a16="http://schemas.microsoft.com/office/drawing/2014/main" id="{ACFDEB75-DCFB-9F1D-32D0-58CD672DA4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907" y="1982897"/>
            <a:ext cx="8360904" cy="41063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4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7" y="1320088"/>
            <a:ext cx="1054100" cy="1071010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508ABE-9699-CA25-4D05-3AED8291DD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6907" y="1320089"/>
            <a:ext cx="8360904" cy="6628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/>
              <a:t>（タイトル）</a:t>
            </a:r>
            <a:endParaRPr lang="en-US"/>
          </a:p>
        </p:txBody>
      </p:sp>
      <p:sp>
        <p:nvSpPr>
          <p:cNvPr id="6" name="テキスト プレースホルダー 17">
            <a:extLst>
              <a:ext uri="{FF2B5EF4-FFF2-40B4-BE49-F238E27FC236}">
                <a16:creationId xmlns:a16="http://schemas.microsoft.com/office/drawing/2014/main" id="{5EBDA6E0-0F8F-B566-67D1-8B90BC1A37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7" y="4664881"/>
            <a:ext cx="5791399" cy="1571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360363" indent="-360363">
              <a:lnSpc>
                <a:spcPct val="100000"/>
              </a:lnSpc>
              <a:buFont typeface="Wingdings" panose="05000000000000000000" pitchFamily="2" charset="2"/>
              <a:buChar char="u"/>
              <a:defRPr sz="2000" b="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8" name="テキスト プレースホルダー 38">
            <a:extLst>
              <a:ext uri="{FF2B5EF4-FFF2-40B4-BE49-F238E27FC236}">
                <a16:creationId xmlns:a16="http://schemas.microsoft.com/office/drawing/2014/main" id="{5B993C10-258D-F029-EECB-1E53F8AD03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発表者</a:t>
            </a:r>
            <a:r>
              <a:rPr kumimoji="1" lang="en-US" altLang="ja-JP"/>
              <a:t>:</a:t>
            </a:r>
            <a:r>
              <a:rPr kumimoji="1" lang="ja-JP" altLang="en-US"/>
              <a:t>（発表者名）</a:t>
            </a:r>
          </a:p>
        </p:txBody>
      </p:sp>
    </p:spTree>
    <p:extLst>
      <p:ext uri="{BB962C8B-B14F-4D97-AF65-F5344CB8AC3E}">
        <p14:creationId xmlns:p14="http://schemas.microsoft.com/office/powerpoint/2010/main" val="310772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5"/>
          <p:cNvSpPr/>
          <p:nvPr/>
        </p:nvSpPr>
        <p:spPr>
          <a:xfrm rot="10800000">
            <a:off x="9991306" y="-6467"/>
            <a:ext cx="700510" cy="1141631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 userDrawn="1"/>
        </p:nvSpPr>
        <p:spPr>
          <a:xfrm rot="10800000">
            <a:off x="9991306" y="1102206"/>
            <a:ext cx="700510" cy="6463974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7" name="Google Shape;1317;p55"/>
          <p:cNvSpPr/>
          <p:nvPr/>
        </p:nvSpPr>
        <p:spPr>
          <a:xfrm rot="10800000">
            <a:off x="-87" y="-6466"/>
            <a:ext cx="700510" cy="383605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8" name="Google Shape;1318;p55"/>
          <p:cNvSpPr/>
          <p:nvPr/>
        </p:nvSpPr>
        <p:spPr>
          <a:xfrm rot="10800000">
            <a:off x="-87" y="3730124"/>
            <a:ext cx="700510" cy="383605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20" name="Google Shape;1320;p55"/>
          <p:cNvSpPr/>
          <p:nvPr/>
        </p:nvSpPr>
        <p:spPr>
          <a:xfrm rot="16200000" flipH="1">
            <a:off x="8058221" y="-228993"/>
            <a:ext cx="557984" cy="1003034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450" name="Google Shape;1450;p55"/>
          <p:cNvGrpSpPr/>
          <p:nvPr/>
        </p:nvGrpSpPr>
        <p:grpSpPr>
          <a:xfrm rot="16200000" flipH="1">
            <a:off x="3070322" y="4639612"/>
            <a:ext cx="537568" cy="5046434"/>
            <a:chOff x="42063" y="1209300"/>
            <a:chExt cx="374825" cy="3909925"/>
          </a:xfrm>
        </p:grpSpPr>
        <p:grpSp>
          <p:nvGrpSpPr>
            <p:cNvPr id="1451" name="Google Shape;1451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452" name="Google Shape;14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456" name="Google Shape;14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9" name="Google Shape;1459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460" name="Google Shape;14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464" name="Google Shape;14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468" name="Google Shape;14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472" name="Google Shape;14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5" name="Google Shape;1475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476" name="Google Shape;14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480" name="Google Shape;148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484" name="Google Shape;148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7" name="Google Shape;1487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488" name="Google Shape;148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492" name="Google Shape;149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5" name="Google Shape;1495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496" name="Google Shape;149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9" name="Google Shape;1499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00" name="Google Shape;150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3" name="Google Shape;1503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04" name="Google Shape;150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7" name="Google Shape;1507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508" name="Google Shape;150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1" name="Google Shape;1511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512" name="Google Shape;151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5" name="Google Shape;1515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516" name="Google Shape;151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9" name="Google Shape;1519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520" name="Google Shape;152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3" name="Google Shape;1523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524" name="Google Shape;152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528" name="Google Shape;152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1" name="Google Shape;1531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532" name="Google Shape;153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536" name="Google Shape;153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9" name="Google Shape;1539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540" name="Google Shape;154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544" name="Google Shape;154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548" name="Google Shape;154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552" name="Google Shape;15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5" name="Google Shape;1555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556" name="Google Shape;15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560" name="Google Shape;15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564" name="Google Shape;15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7" name="Google Shape;1567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568" name="Google Shape;15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572" name="Google Shape;15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5" name="Google Shape;1575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576" name="Google Shape;15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27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C5B7477-A960-5D4C-1174-9A37899A2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424" y="396855"/>
            <a:ext cx="9290882" cy="1000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81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2;p43">
            <a:extLst>
              <a:ext uri="{FF2B5EF4-FFF2-40B4-BE49-F238E27FC236}">
                <a16:creationId xmlns:a16="http://schemas.microsoft.com/office/drawing/2014/main" id="{CFC2988E-44EF-68EA-086E-BC14CE6CA4C3}"/>
              </a:ext>
            </a:extLst>
          </p:cNvPr>
          <p:cNvSpPr/>
          <p:nvPr userDrawn="1"/>
        </p:nvSpPr>
        <p:spPr>
          <a:xfrm flipH="1">
            <a:off x="9785199" y="184"/>
            <a:ext cx="906618" cy="7559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 rot="10800000">
            <a:off x="117" y="6879326"/>
            <a:ext cx="3134932" cy="67858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3" name="Google Shape;913;p42"/>
          <p:cNvSpPr/>
          <p:nvPr/>
        </p:nvSpPr>
        <p:spPr>
          <a:xfrm rot="10800000">
            <a:off x="-1" y="0"/>
            <a:ext cx="699107" cy="130885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4" name="Google Shape;914;p42"/>
          <p:cNvSpPr/>
          <p:nvPr/>
        </p:nvSpPr>
        <p:spPr>
          <a:xfrm rot="10800000">
            <a:off x="0" y="1295845"/>
            <a:ext cx="699107" cy="133512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0175" tIns="80175" rIns="80175" bIns="801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27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66" name="Google Shape;966;p42"/>
          <p:cNvGrpSpPr/>
          <p:nvPr/>
        </p:nvGrpSpPr>
        <p:grpSpPr>
          <a:xfrm rot="-1393521">
            <a:off x="656355" y="5666452"/>
            <a:ext cx="751876" cy="962690"/>
            <a:chOff x="-5220725" y="1178629"/>
            <a:chExt cx="413256" cy="529626"/>
          </a:xfrm>
        </p:grpSpPr>
        <p:sp>
          <p:nvSpPr>
            <p:cNvPr id="967" name="Google Shape;967;p42"/>
            <p:cNvSpPr/>
            <p:nvPr/>
          </p:nvSpPr>
          <p:spPr>
            <a:xfrm>
              <a:off x="-5220725" y="1308525"/>
              <a:ext cx="190500" cy="1905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27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 rot="-1288199">
              <a:off x="-4984416" y="1201483"/>
              <a:ext cx="154093" cy="154093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27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 rot="-2077056">
              <a:off x="-5033122" y="1523906"/>
              <a:ext cx="154199" cy="154199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27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cxnSp>
          <p:nvCxnSpPr>
            <p:cNvPr id="970" name="Google Shape;970;p42"/>
            <p:cNvCxnSpPr>
              <a:stCxn id="969" idx="0"/>
              <a:endCxn id="967" idx="5"/>
            </p:cNvCxnSpPr>
            <p:nvPr/>
          </p:nvCxnSpPr>
          <p:spPr>
            <a:xfrm rot="-9402987">
              <a:off x="-5068767" y="1485170"/>
              <a:ext cx="79690" cy="3817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42"/>
            <p:cNvCxnSpPr>
              <a:stCxn id="968" idx="2"/>
              <a:endCxn id="967" idx="7"/>
            </p:cNvCxnSpPr>
            <p:nvPr/>
          </p:nvCxnSpPr>
          <p:spPr>
            <a:xfrm rot="1389696" flipH="1">
              <a:off x="-5049179" y="1292351"/>
              <a:ext cx="61018" cy="5845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D78D8A0-E791-0274-3187-9ED9CFA7AD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424" y="396855"/>
            <a:ext cx="9290882" cy="1000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 b="1"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2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54C0F-D52D-4637-BD6F-C60D88F0DA64}" type="datetimeFigureOut">
              <a:rPr kumimoji="1" lang="ja-JP" altLang="en-US" smtClean="0"/>
              <a:pPr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FBE8C-8092-4725-BF1C-D62B9ACA2D6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44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63" r:id="rId4"/>
    <p:sldLayoutId id="2147483666" r:id="rId5"/>
    <p:sldLayoutId id="2147483664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00" b="1" kern="1200">
          <a:solidFill>
            <a:schemeClr val="tx1"/>
          </a:solidFill>
          <a:latin typeface="MS gothic" panose="020B0609070205080204" pitchFamily="49" charset="-128"/>
          <a:ea typeface="MS gothic" panose="020B0609070205080204" pitchFamily="49" charset="-128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C9766-EEBD-C994-2AFB-2A4CD7E1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30695-193A-9500-2263-B7BD8D297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85035-A84F-881E-CBF1-CF74ACC7F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54C0F-D52D-4637-BD6F-C60D88F0DA64}" type="datetimeFigureOut">
              <a:rPr kumimoji="1" lang="ja-JP" altLang="en-US" smtClean="0"/>
              <a:pPr/>
              <a:t>2026/5/16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E0E7D-A9E5-9F6C-0B7F-A46F99FF3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FC49-27E5-562C-155B-B5A454D37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FBE8C-8092-4725-BF1C-D62B9ACA2D6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29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801909" rtl="0" eaLnBrk="1" latinLnBrk="0" hangingPunct="1">
        <a:lnSpc>
          <a:spcPct val="90000"/>
        </a:lnSpc>
        <a:spcBef>
          <a:spcPct val="0"/>
        </a:spcBef>
        <a:buNone/>
        <a:defRPr kumimoji="1"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77" indent="-200477" algn="l" defTabSz="80190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kumimoji="1"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32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386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40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295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249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04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158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12" indent="-200477" algn="l" defTabSz="80190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55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09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63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17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772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26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681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635" algn="l" defTabSz="801909" rtl="0" eaLnBrk="1" latinLnBrk="0" hangingPunct="1">
        <a:defRPr kumimoji="1"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cience-illust.com/single-channel-micropipette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db.com/kenq/illust/measuring-pipette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db.com/kenq/illust/transfer-pipette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wdb.com/kenq/illust/safety-pipette-filler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irasutoya.com/2020/09/blog-post_500.html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wdb.com/kenq/illust/how-to-see-the-meniscus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-illust.com/main/detail.php?id=23172800" TargetMode="External"/><Relationship Id="rId2" Type="http://schemas.openxmlformats.org/officeDocument/2006/relationships/hyperlink" Target="https://www.wdb.com/kenq/illust/beaker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-illust.com/single-channel-micropipettes" TargetMode="External"/><Relationship Id="rId2" Type="http://schemas.openxmlformats.org/officeDocument/2006/relationships/hyperlink" Target="https://www.wdb.com/kenq/illust/beaker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wdb.com/kenq/illust/beaker-with-solution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cience-illust.com/graduated_cylinders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cience-illust.com/volumetric_flask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-illust.com/main/detail.php?id=23172800" TargetMode="External"/><Relationship Id="rId2" Type="http://schemas.openxmlformats.org/officeDocument/2006/relationships/hyperlink" Target="https://www.wdb.com/kenq/illust/beaker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ac-illust.com/main/detail.php?id=23172800" TargetMode="External"/><Relationship Id="rId4" Type="http://schemas.openxmlformats.org/officeDocument/2006/relationships/hyperlink" Target="https://www.wdb.com/kenq/illust/beaker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wdb.com/kenq/illust/wash-bottle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db.com/kenq/illust/measuring-pipette" TargetMode="External"/><Relationship Id="rId2" Type="http://schemas.openxmlformats.org/officeDocument/2006/relationships/hyperlink" Target="https://science-illust.com/volumetric_flask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wdb.com/kenq/illust/test-tube-brush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db.com/kenq/illust/beaker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5199CF-07F1-2D81-A0A6-7E7EEFAFD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631" y="1506527"/>
            <a:ext cx="4991903" cy="670226"/>
          </a:xfrm>
          <a:effectLst/>
        </p:spPr>
        <p:txBody>
          <a:bodyPr>
            <a:noAutofit/>
          </a:bodyPr>
          <a:lstStyle/>
          <a:p>
            <a:r>
              <a:rPr kumimoji="1" lang="ja-JP" altLang="en-US" sz="2800"/>
              <a:t>バイオサイエンス学術研究会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079E9B-12F2-E265-19CA-24E2151115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/>
              <a:t>実験長</a:t>
            </a:r>
            <a:r>
              <a:rPr lang="en-US" altLang="ja-JP"/>
              <a:t>: </a:t>
            </a:r>
            <a:r>
              <a:rPr lang="ja-JP" altLang="en-US"/>
              <a:t>寺谷優輝</a:t>
            </a:r>
            <a:endParaRPr lang="en-US" altLang="ja-JP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30204CBD-7B1E-5C41-FC84-0B74C162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9600"/>
              <a:t>実験体験会</a:t>
            </a:r>
          </a:p>
        </p:txBody>
      </p:sp>
    </p:spTree>
    <p:extLst>
      <p:ext uri="{BB962C8B-B14F-4D97-AF65-F5344CB8AC3E}">
        <p14:creationId xmlns:p14="http://schemas.microsoft.com/office/powerpoint/2010/main" val="276655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70F193D-7924-4FAC-CA3F-66B6AEE0A2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各ピペットの使い方について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A6B3C7-0C47-AF2D-D78C-F9C94B9319D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kumimoji="1" lang="en-US" altLang="ja-JP" sz="4800"/>
              <a:t>01</a:t>
            </a:r>
            <a:endParaRPr kumimoji="1" lang="ja-JP" altLang="en-US" sz="480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0019F7B-FFAF-471A-D521-4BEB20A6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907" y="1320089"/>
            <a:ext cx="8714906" cy="662808"/>
          </a:xfrm>
        </p:spPr>
        <p:txBody>
          <a:bodyPr/>
          <a:lstStyle/>
          <a:p>
            <a:r>
              <a:rPr kumimoji="1" lang="en-US" altLang="ja-JP" sz="3600"/>
              <a:t>1 mL</a:t>
            </a:r>
            <a:r>
              <a:rPr kumimoji="1" lang="ja-JP" altLang="en-US" sz="3600"/>
              <a:t>以下の溶液を正確に量り取りたい！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ADC493-36E2-C31E-3957-FCFED88DA2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/>
              <a:t>ピペットの種類</a:t>
            </a:r>
            <a:r>
              <a:rPr lang="ja-JP" altLang="en-US"/>
              <a:t>と精度</a:t>
            </a:r>
            <a:endParaRPr lang="en-US" altLang="ja-JP"/>
          </a:p>
          <a:p>
            <a:r>
              <a:rPr kumimoji="1" lang="ja-JP" altLang="en-US"/>
              <a:t>安全ピペッターの使い方</a:t>
            </a:r>
            <a:endParaRPr kumimoji="1" lang="en-US" altLang="ja-JP"/>
          </a:p>
          <a:p>
            <a:r>
              <a:rPr lang="ja-JP" altLang="en-US"/>
              <a:t>ピペットマンの使い方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31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FF1D9E-1053-928E-5339-408F844B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ピペットマン</a:t>
            </a:r>
            <a:r>
              <a:rPr kumimoji="1" lang="en-US" altLang="ja-JP"/>
              <a:t>(</a:t>
            </a:r>
            <a:r>
              <a:rPr kumimoji="1" lang="ja-JP" altLang="en-US"/>
              <a:t>オートピペット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D20FD2-9C97-5C8C-FFE2-BEAF764AD0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kumimoji="1" lang="ja-JP" altLang="en-US" sz="2800"/>
              <a:t>ピペットの中で唯一</a:t>
            </a:r>
            <a:r>
              <a:rPr lang="ja-JP" altLang="en-US"/>
              <a:t>，</a:t>
            </a:r>
            <a:r>
              <a:rPr lang="ja-JP" altLang="en-US">
                <a:solidFill>
                  <a:schemeClr val="accent6"/>
                </a:solidFill>
              </a:rPr>
              <a:t>マイクロリットル分</a:t>
            </a:r>
            <a:r>
              <a:rPr lang="ja-JP" altLang="en-US"/>
              <a:t>量り取れる</a:t>
            </a:r>
            <a:r>
              <a:rPr kumimoji="1" lang="ja-JP" altLang="en-US" sz="2800"/>
              <a:t>．</a:t>
            </a:r>
            <a:endParaRPr kumimoji="1" lang="en-US" altLang="ja-JP" sz="2800"/>
          </a:p>
          <a:p>
            <a:pPr>
              <a:buClr>
                <a:schemeClr val="tx1"/>
              </a:buClr>
            </a:pPr>
            <a:r>
              <a:rPr kumimoji="1" lang="ja-JP" altLang="en-US" sz="2800"/>
              <a:t>チップを付けて溶液を吸う．</a:t>
            </a:r>
            <a:endParaRPr kumimoji="1" lang="en-US" altLang="ja-JP" sz="2800"/>
          </a:p>
          <a:p>
            <a:pPr>
              <a:buClr>
                <a:schemeClr val="tx1"/>
              </a:buClr>
            </a:pPr>
            <a:r>
              <a:rPr lang="ja-JP" altLang="en-US" sz="2800">
                <a:solidFill>
                  <a:schemeClr val="accent6"/>
                </a:solidFill>
              </a:rPr>
              <a:t>吸い上げるときは</a:t>
            </a:r>
            <a:r>
              <a:rPr lang="ja-JP" altLang="en-US" sz="2800"/>
              <a:t>プッシュボタンを</a:t>
            </a:r>
            <a:r>
              <a:rPr lang="en-US" altLang="ja-JP" sz="2800">
                <a:solidFill>
                  <a:schemeClr val="accent6"/>
                </a:solidFill>
              </a:rPr>
              <a:t>1</a:t>
            </a:r>
            <a:r>
              <a:rPr lang="ja-JP" altLang="en-US" sz="2800">
                <a:solidFill>
                  <a:schemeClr val="accent6"/>
                </a:solidFill>
              </a:rPr>
              <a:t>段目まで</a:t>
            </a:r>
            <a:r>
              <a:rPr lang="ja-JP" altLang="en-US" sz="2800"/>
              <a:t>押し下げ，</a:t>
            </a:r>
            <a:r>
              <a:rPr lang="ja-JP" altLang="en-US" sz="2800">
                <a:solidFill>
                  <a:schemeClr val="accent6"/>
                </a:solidFill>
              </a:rPr>
              <a:t>ゆっくりと</a:t>
            </a:r>
            <a:r>
              <a:rPr lang="ja-JP" altLang="en-US" sz="2800"/>
              <a:t>押し上げる．</a:t>
            </a:r>
            <a:endParaRPr lang="en-US" altLang="ja-JP" sz="2800"/>
          </a:p>
          <a:p>
            <a:pPr>
              <a:buClr>
                <a:schemeClr val="tx1"/>
              </a:buClr>
            </a:pPr>
            <a:r>
              <a:rPr kumimoji="1" lang="ja-JP" altLang="en-US" sz="2800">
                <a:solidFill>
                  <a:schemeClr val="accent6"/>
                </a:solidFill>
              </a:rPr>
              <a:t>吐き出すときは</a:t>
            </a:r>
            <a:r>
              <a:rPr kumimoji="1" lang="en-US" altLang="ja-JP" sz="2800">
                <a:solidFill>
                  <a:schemeClr val="accent6"/>
                </a:solidFill>
              </a:rPr>
              <a:t>2</a:t>
            </a:r>
            <a:r>
              <a:rPr kumimoji="1" lang="ja-JP" altLang="en-US" sz="2800">
                <a:solidFill>
                  <a:schemeClr val="accent6"/>
                </a:solidFill>
              </a:rPr>
              <a:t>段目まで</a:t>
            </a:r>
            <a:r>
              <a:rPr kumimoji="1" lang="ja-JP" altLang="en-US" sz="2800"/>
              <a:t>，押して溶液を出し切る．</a:t>
            </a:r>
            <a:endParaRPr kumimoji="1" lang="en-US" altLang="ja-JP" sz="2800"/>
          </a:p>
          <a:p>
            <a:pPr>
              <a:buClr>
                <a:schemeClr val="tx1"/>
              </a:buClr>
            </a:pPr>
            <a:r>
              <a:rPr kumimoji="1" lang="ja-JP" altLang="en-US" sz="2800"/>
              <a:t>チップに溶液が入っているときは，</a:t>
            </a:r>
            <a:r>
              <a:rPr kumimoji="1" lang="ja-JP" altLang="en-US" sz="2800">
                <a:solidFill>
                  <a:schemeClr val="accent6"/>
                </a:solidFill>
              </a:rPr>
              <a:t>決して横向きにしてはいけない</a:t>
            </a:r>
            <a:r>
              <a:rPr kumimoji="1" lang="ja-JP" altLang="en-US" sz="2800"/>
              <a:t>．</a:t>
            </a:r>
            <a:endParaRPr kumimoji="1" lang="en-US" altLang="ja-JP" sz="28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B32E37-2FFE-F782-15FA-59E7CB7A5A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ja-JP" altLang="en-US" dirty="0"/>
              <a:t>引用</a:t>
            </a:r>
            <a:r>
              <a:rPr lang="en-US" altLang="ja-JP" dirty="0"/>
              <a:t>: </a:t>
            </a:r>
            <a:r>
              <a:rPr lang="ja-JP" altLang="en-US" dirty="0"/>
              <a:t>かがくイラスト，</a:t>
            </a:r>
            <a:r>
              <a:rPr lang="en-US" altLang="ja-JP" dirty="0">
                <a:hlinkClick r:id="rId2"/>
              </a:rPr>
              <a:t>https://science-illust.com/single-channel-micropipettes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マイクロピペット&#10;青いチップ">
            <a:extLst>
              <a:ext uri="{FF2B5EF4-FFF2-40B4-BE49-F238E27FC236}">
                <a16:creationId xmlns:a16="http://schemas.microsoft.com/office/drawing/2014/main" id="{EDF86F76-853E-33F6-6BFB-13659482B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58" y="1707494"/>
            <a:ext cx="1481447" cy="4666559"/>
          </a:xfrm>
          <a:prstGeom prst="rect">
            <a:avLst/>
          </a:prstGeom>
        </p:spPr>
      </p:pic>
      <p:pic>
        <p:nvPicPr>
          <p:cNvPr id="6" name="図 5" descr="マイクロピペット2&#10;黄色いチップ">
            <a:extLst>
              <a:ext uri="{FF2B5EF4-FFF2-40B4-BE49-F238E27FC236}">
                <a16:creationId xmlns:a16="http://schemas.microsoft.com/office/drawing/2014/main" id="{434C985D-64FD-056A-97F1-D71E71E5C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212" y="1731998"/>
            <a:ext cx="1485458" cy="464205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1DA7FD-3BF6-5BFB-36BA-A7FC47C90D72}"/>
              </a:ext>
            </a:extLst>
          </p:cNvPr>
          <p:cNvSpPr txBox="1"/>
          <p:nvPr/>
        </p:nvSpPr>
        <p:spPr>
          <a:xfrm>
            <a:off x="748518" y="6366519"/>
            <a:ext cx="148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P1000</a:t>
            </a:r>
            <a:endParaRPr kumimoji="1" lang="ja-JP" altLang="en-US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19DC03-D7AA-400A-7A70-2DC8CC6E3E96}"/>
              </a:ext>
            </a:extLst>
          </p:cNvPr>
          <p:cNvSpPr txBox="1"/>
          <p:nvPr/>
        </p:nvSpPr>
        <p:spPr>
          <a:xfrm>
            <a:off x="2909561" y="6366518"/>
            <a:ext cx="148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P100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2502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25581C-7F14-4F3E-AEC2-0DE3DC961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メスピペット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5A9C4F-17BB-8DFB-C9D2-721F6FA7BF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>
                <a:solidFill>
                  <a:schemeClr val="accent6"/>
                </a:solidFill>
              </a:rPr>
              <a:t>任意の液量</a:t>
            </a:r>
            <a:r>
              <a:rPr kumimoji="1" lang="ja-JP" altLang="en-US" dirty="0"/>
              <a:t>を正確に量り取るときに用いる．</a:t>
            </a:r>
            <a:endParaRPr kumimoji="1" lang="en-US" altLang="ja-JP" dirty="0"/>
          </a:p>
          <a:p>
            <a:r>
              <a:rPr lang="ja-JP" altLang="en-US" dirty="0"/>
              <a:t>使用溶液を用いて</a:t>
            </a:r>
            <a:r>
              <a:rPr lang="en-US" altLang="ja-JP" dirty="0"/>
              <a:t>2,3</a:t>
            </a:r>
            <a:r>
              <a:rPr lang="ja-JP" altLang="en-US" dirty="0"/>
              <a:t>回吸って吐いてを繰り返す（</a:t>
            </a:r>
            <a:r>
              <a:rPr lang="ja-JP" altLang="en-US" dirty="0">
                <a:solidFill>
                  <a:schemeClr val="accent6"/>
                </a:solidFill>
              </a:rPr>
              <a:t>共洗い</a:t>
            </a:r>
            <a:r>
              <a:rPr lang="ja-JP" altLang="en-US" dirty="0"/>
              <a:t>）．</a:t>
            </a:r>
            <a:endParaRPr kumimoji="1" lang="en-US" altLang="ja-JP" dirty="0"/>
          </a:p>
          <a:p>
            <a:r>
              <a:rPr lang="ja-JP" altLang="en-US" dirty="0"/>
              <a:t>安全ピペッターを用いて，</a:t>
            </a:r>
            <a:r>
              <a:rPr lang="ja-JP" altLang="en-US" dirty="0">
                <a:solidFill>
                  <a:schemeClr val="accent6"/>
                </a:solidFill>
              </a:rPr>
              <a:t>メモリ</a:t>
            </a:r>
            <a:r>
              <a:rPr lang="en-US" altLang="ja-JP" dirty="0">
                <a:solidFill>
                  <a:schemeClr val="accent6"/>
                </a:solidFill>
              </a:rPr>
              <a:t>A</a:t>
            </a:r>
            <a:r>
              <a:rPr lang="ja-JP" altLang="en-US" dirty="0">
                <a:solidFill>
                  <a:schemeClr val="accent6"/>
                </a:solidFill>
              </a:rPr>
              <a:t>まで吸い上げ，メモリ</a:t>
            </a:r>
            <a:r>
              <a:rPr lang="en-US" altLang="ja-JP" dirty="0">
                <a:solidFill>
                  <a:schemeClr val="accent6"/>
                </a:solidFill>
              </a:rPr>
              <a:t>B</a:t>
            </a:r>
            <a:r>
              <a:rPr lang="ja-JP" altLang="en-US" dirty="0">
                <a:solidFill>
                  <a:schemeClr val="accent6"/>
                </a:solidFill>
              </a:rPr>
              <a:t>まで吐き出して</a:t>
            </a:r>
            <a:r>
              <a:rPr lang="ja-JP" altLang="en-US" dirty="0"/>
              <a:t>使う．</a:t>
            </a:r>
            <a:endParaRPr lang="en-US" altLang="ja-JP" dirty="0"/>
          </a:p>
          <a:p>
            <a:r>
              <a:rPr kumimoji="1" lang="en-US" altLang="ja-JP" dirty="0"/>
              <a:t>B</a:t>
            </a:r>
            <a:r>
              <a:rPr lang="en-US" altLang="ja-JP" dirty="0"/>
              <a:t>-A(</a:t>
            </a:r>
            <a:r>
              <a:rPr lang="ja-JP" altLang="en-US" dirty="0"/>
              <a:t>差</a:t>
            </a:r>
            <a:r>
              <a:rPr lang="en-US" altLang="ja-JP" dirty="0"/>
              <a:t>)</a:t>
            </a:r>
            <a:r>
              <a:rPr lang="ja-JP" altLang="en-US" dirty="0"/>
              <a:t>を利用することで目標の体積を量ることができる．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076096-E214-A8EE-C18B-3FAD5E0652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https://www.wdb.com/kenq/illust/measuring-pipette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メスピペット">
            <a:extLst>
              <a:ext uri="{FF2B5EF4-FFF2-40B4-BE49-F238E27FC236}">
                <a16:creationId xmlns:a16="http://schemas.microsoft.com/office/drawing/2014/main" id="{15AF3176-5BB4-309B-EB49-24976326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73" r="42903"/>
          <a:stretch>
            <a:fillRect/>
          </a:stretch>
        </p:blipFill>
        <p:spPr>
          <a:xfrm>
            <a:off x="2428568" y="1875181"/>
            <a:ext cx="66859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4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84F3A-0DA6-F202-D70B-61C204C0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ホールピペット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1CCDAE-D06B-A980-7F85-78E99E02DD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6"/>
                </a:solidFill>
              </a:rPr>
              <a:t>特定の液量</a:t>
            </a:r>
            <a:r>
              <a:rPr kumimoji="1" lang="ja-JP" altLang="en-US"/>
              <a:t>を正確に量り取るときに用いる．</a:t>
            </a:r>
            <a:endParaRPr kumimoji="1" lang="en-US" altLang="ja-JP"/>
          </a:p>
          <a:p>
            <a:r>
              <a:rPr kumimoji="1" lang="ja-JP" altLang="en-US"/>
              <a:t>使用溶液を用いて</a:t>
            </a:r>
            <a:r>
              <a:rPr kumimoji="1" lang="en-US" altLang="ja-JP"/>
              <a:t>2,3</a:t>
            </a:r>
            <a:r>
              <a:rPr kumimoji="1" lang="ja-JP" altLang="en-US"/>
              <a:t>回吸って吐いてを繰り返す（</a:t>
            </a:r>
            <a:r>
              <a:rPr kumimoji="1" lang="ja-JP" altLang="en-US">
                <a:solidFill>
                  <a:schemeClr val="accent6"/>
                </a:solidFill>
              </a:rPr>
              <a:t>共洗い</a:t>
            </a:r>
            <a:r>
              <a:rPr kumimoji="1" lang="ja-JP" altLang="en-US"/>
              <a:t>）．</a:t>
            </a:r>
            <a:endParaRPr kumimoji="1" lang="en-US" altLang="ja-JP"/>
          </a:p>
          <a:p>
            <a:r>
              <a:rPr kumimoji="1" lang="ja-JP" altLang="en-US"/>
              <a:t>安全ピペッターを用いて，</a:t>
            </a:r>
            <a:r>
              <a:rPr kumimoji="1" lang="ja-JP" altLang="en-US">
                <a:solidFill>
                  <a:schemeClr val="accent6"/>
                </a:solidFill>
              </a:rPr>
              <a:t>標線まで</a:t>
            </a:r>
            <a:r>
              <a:rPr kumimoji="1" lang="ja-JP" altLang="en-US"/>
              <a:t>溶液を吸いあげる．</a:t>
            </a:r>
            <a:endParaRPr kumimoji="1" lang="en-US" altLang="ja-JP"/>
          </a:p>
          <a:p>
            <a:r>
              <a:rPr lang="ja-JP" altLang="en-US"/>
              <a:t>ピペットの先端に残った溶液はろ紙などで吸い取る．</a:t>
            </a:r>
            <a:endParaRPr lang="en-US" altLang="ja-JP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983382-14B9-AFD0-E9F6-DA074F1743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https://www.wdb.com/kenq/illust/transfer-pipette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ホールピペット">
            <a:extLst>
              <a:ext uri="{FF2B5EF4-FFF2-40B4-BE49-F238E27FC236}">
                <a16:creationId xmlns:a16="http://schemas.microsoft.com/office/drawing/2014/main" id="{AB20FFB2-DF3F-5B93-FAB3-08026D53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13" r="42688"/>
          <a:stretch>
            <a:fillRect/>
          </a:stretch>
        </p:blipFill>
        <p:spPr>
          <a:xfrm>
            <a:off x="2261424" y="1905954"/>
            <a:ext cx="717755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DAEEC3-9601-74AE-D429-EB789A548880}"/>
              </a:ext>
            </a:extLst>
          </p:cNvPr>
          <p:cNvSpPr txBox="1"/>
          <p:nvPr/>
        </p:nvSpPr>
        <p:spPr>
          <a:xfrm>
            <a:off x="2890689" y="252689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← 標線</a:t>
            </a:r>
          </a:p>
        </p:txBody>
      </p:sp>
    </p:spTree>
    <p:extLst>
      <p:ext uri="{BB962C8B-B14F-4D97-AF65-F5344CB8AC3E}">
        <p14:creationId xmlns:p14="http://schemas.microsoft.com/office/powerpoint/2010/main" val="422458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A5803-60AC-30FD-C35C-852B19E9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安全</a:t>
            </a:r>
            <a:r>
              <a:rPr kumimoji="1" lang="ja-JP" altLang="en-US"/>
              <a:t>ピペッターの使い方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5AA725-9F8B-2B7F-1441-16E8A98092F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ピペットを差し込む（深く差し込まない）．</a:t>
            </a:r>
            <a:endParaRPr kumimoji="1" lang="en-US" altLang="ja-JP"/>
          </a:p>
          <a:p>
            <a:r>
              <a:rPr kumimoji="1"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Ⓐ</a:t>
            </a:r>
            <a:r>
              <a:rPr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を親指と人差し指で押さえながら，</a:t>
            </a:r>
            <a:r>
              <a:rPr lang="ja-JP" altLang="en-US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ゴム球を圧縮して空気を抜く</a:t>
            </a:r>
            <a:r>
              <a:rPr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．</a:t>
            </a:r>
            <a:endParaRPr lang="en-US" altLang="ja-JP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kumimoji="1"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メモリを見ながら</a:t>
            </a:r>
            <a:r>
              <a:rPr kumimoji="1" lang="ja-JP" altLang="en-US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Ⓢを押すと溶液が吸入</a:t>
            </a:r>
            <a:r>
              <a:rPr kumimoji="1"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する．</a:t>
            </a:r>
            <a:endParaRPr kumimoji="1" lang="en-US" altLang="ja-JP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目的の液量になったらⓈを放す．</a:t>
            </a:r>
            <a:endParaRPr kumimoji="1" lang="en-US" altLang="ja-JP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lang="ja-JP" altLang="en-US">
                <a:solidFill>
                  <a:schemeClr val="accent6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Ⓔを押すと液が滴下</a:t>
            </a:r>
            <a:r>
              <a:rPr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される．</a:t>
            </a:r>
            <a:endParaRPr lang="en-US" altLang="ja-JP">
              <a:latin typeface="ＭＳ ゴシック" panose="020B0609070205080204" pitchFamily="49" charset="-128"/>
              <a:ea typeface="ＭＳ ゴシック" panose="020B0609070205080204" pitchFamily="49" charset="-128"/>
              <a:sym typeface="MS Outlook" panose="05010100010000000000" pitchFamily="2" charset="2"/>
            </a:endParaRPr>
          </a:p>
          <a:p>
            <a:r>
              <a:rPr kumimoji="1" lang="en-US" altLang="ja-JP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※</a:t>
            </a:r>
            <a:r>
              <a:rPr kumimoji="1" lang="ja-JP" altLang="en-US">
                <a:latin typeface="ＭＳ ゴシック" panose="020B0609070205080204" pitchFamily="49" charset="-128"/>
                <a:ea typeface="ＭＳ ゴシック" panose="020B0609070205080204" pitchFamily="49" charset="-128"/>
                <a:sym typeface="MS Outlook" panose="05010100010000000000" pitchFamily="2" charset="2"/>
              </a:rPr>
              <a:t>を押して先端の溶液を排出する．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71F519-614A-91F0-A48B-01DBBA0532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https://www.wdb.com/kenq/illust/safety-pipette-filler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安全ピペッター">
            <a:extLst>
              <a:ext uri="{FF2B5EF4-FFF2-40B4-BE49-F238E27FC236}">
                <a16:creationId xmlns:a16="http://schemas.microsoft.com/office/drawing/2014/main" id="{9BBFC826-D470-5C03-6BC5-55CBC040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77" r="21398"/>
          <a:stretch>
            <a:fillRect/>
          </a:stretch>
        </p:blipFill>
        <p:spPr>
          <a:xfrm>
            <a:off x="1406013" y="1905954"/>
            <a:ext cx="2694040" cy="4572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7B0A7E-5006-3A59-0DE2-E4A50EB8F2E9}"/>
              </a:ext>
            </a:extLst>
          </p:cNvPr>
          <p:cNvSpPr txBox="1"/>
          <p:nvPr/>
        </p:nvSpPr>
        <p:spPr>
          <a:xfrm>
            <a:off x="2379406" y="2271253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A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6E1599D-4FB7-A4FF-1AAB-7B66F77DD682}"/>
              </a:ext>
            </a:extLst>
          </p:cNvPr>
          <p:cNvSpPr txBox="1"/>
          <p:nvPr/>
        </p:nvSpPr>
        <p:spPr>
          <a:xfrm>
            <a:off x="2369574" y="4704736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S</a:t>
            </a:r>
            <a:endParaRPr kumimoji="1" lang="ja-JP" altLang="en-US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E29FC3-8D32-B694-457B-9E552003104B}"/>
              </a:ext>
            </a:extLst>
          </p:cNvPr>
          <p:cNvSpPr txBox="1"/>
          <p:nvPr/>
        </p:nvSpPr>
        <p:spPr>
          <a:xfrm>
            <a:off x="2821857" y="5031227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E</a:t>
            </a:r>
            <a:endParaRPr kumimoji="1" lang="ja-JP" alt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EDE89-958D-C7B8-3217-418127BC45D5}"/>
              </a:ext>
            </a:extLst>
          </p:cNvPr>
          <p:cNvSpPr txBox="1"/>
          <p:nvPr/>
        </p:nvSpPr>
        <p:spPr>
          <a:xfrm>
            <a:off x="924230" y="230030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/>
              <a:t>排気 →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8438F6-EB2E-82FA-51BB-89E7A5CAC0A8}"/>
              </a:ext>
            </a:extLst>
          </p:cNvPr>
          <p:cNvSpPr txBox="1"/>
          <p:nvPr/>
        </p:nvSpPr>
        <p:spPr>
          <a:xfrm>
            <a:off x="0" y="3549004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/>
              <a:t>ゴム球 →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6EC37B2-F3AE-7FD6-7F78-47437A58100B}"/>
              </a:ext>
            </a:extLst>
          </p:cNvPr>
          <p:cNvSpPr txBox="1"/>
          <p:nvPr/>
        </p:nvSpPr>
        <p:spPr>
          <a:xfrm>
            <a:off x="920878" y="4704735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/>
              <a:t>吸入 →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5DE2CF-3325-4FF0-AD7B-C647756C623A}"/>
              </a:ext>
            </a:extLst>
          </p:cNvPr>
          <p:cNvSpPr txBox="1"/>
          <p:nvPr/>
        </p:nvSpPr>
        <p:spPr>
          <a:xfrm>
            <a:off x="2554482" y="549289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/>
              <a:t>↑</a:t>
            </a:r>
            <a:endParaRPr kumimoji="1" lang="en-US" altLang="ja-JP" sz="2400"/>
          </a:p>
          <a:p>
            <a:pPr algn="ctr"/>
            <a:r>
              <a:rPr kumimoji="1" lang="ja-JP" altLang="en-US" sz="2400"/>
              <a:t>排出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80C2222-E72C-0F02-FEF7-304F06873B96}"/>
              </a:ext>
            </a:extLst>
          </p:cNvPr>
          <p:cNvSpPr txBox="1"/>
          <p:nvPr/>
        </p:nvSpPr>
        <p:spPr>
          <a:xfrm>
            <a:off x="3541513" y="5003530"/>
            <a:ext cx="265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/>
              <a:t>※</a:t>
            </a:r>
            <a:endParaRPr kumimoji="1" lang="ja-JP" altLang="en-US" sz="2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DE4146-0D29-F20A-6B67-53C6E74BCEBD}"/>
              </a:ext>
            </a:extLst>
          </p:cNvPr>
          <p:cNvSpPr txBox="1"/>
          <p:nvPr/>
        </p:nvSpPr>
        <p:spPr>
          <a:xfrm rot="16200000">
            <a:off x="2050903" y="616596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/>
              <a:t>ピペット</a:t>
            </a:r>
          </a:p>
        </p:txBody>
      </p:sp>
    </p:spTree>
    <p:extLst>
      <p:ext uri="{BB962C8B-B14F-4D97-AF65-F5344CB8AC3E}">
        <p14:creationId xmlns:p14="http://schemas.microsoft.com/office/powerpoint/2010/main" val="412845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B6556E-00BA-F9C9-0734-E240050F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駒込ピペット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D9C1CD-6C40-54EC-A083-9A3071DD35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東京都立駒込病院で考案された．</a:t>
            </a:r>
            <a:endParaRPr lang="en-US" altLang="ja-JP" sz="3200"/>
          </a:p>
          <a:p>
            <a:r>
              <a:rPr kumimoji="1" lang="ja-JP" altLang="en-US" sz="3200">
                <a:solidFill>
                  <a:schemeClr val="accent6"/>
                </a:solidFill>
              </a:rPr>
              <a:t>安全かつ迅速にサンプルを採取</a:t>
            </a:r>
            <a:r>
              <a:rPr kumimoji="1" lang="ja-JP" altLang="en-US" sz="3200"/>
              <a:t>することが目的である．</a:t>
            </a:r>
            <a:endParaRPr lang="en-US" altLang="ja-JP" sz="3200"/>
          </a:p>
          <a:p>
            <a:r>
              <a:rPr lang="ja-JP" altLang="en-US" sz="3200"/>
              <a:t>ゴム球を使って液体を吸い上げ，吐き出す．</a:t>
            </a:r>
            <a:endParaRPr lang="en-US" altLang="ja-JP" sz="3200"/>
          </a:p>
          <a:p>
            <a:r>
              <a:rPr lang="ja-JP" altLang="en-US" sz="3200"/>
              <a:t>ゴム球を</a:t>
            </a:r>
            <a:r>
              <a:rPr lang="ja-JP" altLang="en-US" sz="3200">
                <a:solidFill>
                  <a:schemeClr val="accent6"/>
                </a:solidFill>
              </a:rPr>
              <a:t>親指と人差し指で押さえ</a:t>
            </a:r>
            <a:r>
              <a:rPr lang="ja-JP" altLang="en-US" sz="3200"/>
              <a:t>，残りの指を本体に添えて持つ．</a:t>
            </a:r>
            <a:endParaRPr kumimoji="1"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D94342-047D-44B4-5DB3-CC67A21E8E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/>
              <a:t>引用</a:t>
            </a:r>
            <a:r>
              <a:rPr kumimoji="1" lang="en-US" altLang="ja-JP"/>
              <a:t>: </a:t>
            </a:r>
            <a:r>
              <a:rPr kumimoji="1" lang="ja-JP" altLang="en-US"/>
              <a:t>いらすとや，</a:t>
            </a:r>
            <a:r>
              <a:rPr lang="en-US" altLang="ja-JP">
                <a:hlinkClick r:id="rId2"/>
              </a:rPr>
              <a:t>https://www.irasutoya.com/2020/09/blog-post_500.html</a:t>
            </a:r>
            <a:r>
              <a:rPr lang="ja-JP" altLang="en-US"/>
              <a:t>．</a:t>
            </a:r>
            <a:endParaRPr kumimoji="1" lang="ja-JP" altLang="en-US"/>
          </a:p>
        </p:txBody>
      </p:sp>
      <p:pic>
        <p:nvPicPr>
          <p:cNvPr id="6" name="図 5" descr="ゴム付きピペットのイラスト">
            <a:extLst>
              <a:ext uri="{FF2B5EF4-FFF2-40B4-BE49-F238E27FC236}">
                <a16:creationId xmlns:a16="http://schemas.microsoft.com/office/drawing/2014/main" id="{794053D8-6347-DEE1-0F46-C9F360F7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657" y="1956126"/>
            <a:ext cx="816077" cy="447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CCAA57A-8188-2105-7FBC-75F4CF54A2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ja-JP" altLang="en-US" dirty="0"/>
              <a:t>メニスカスを意識する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/>
              <a:t>実際に定容してみよう！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>
                <a:solidFill>
                  <a:schemeClr val="accent6"/>
                </a:solidFill>
              </a:rPr>
              <a:t>精度という視点</a:t>
            </a:r>
            <a:r>
              <a:rPr lang="ja-JP" altLang="en-US" dirty="0"/>
              <a:t>から考察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3BE47E-8246-930E-4096-5D1B092204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ピペットを使ってみよう！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CE9EBD-8344-9C8E-1317-E18B5860A6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/>
              <a:t>02</a:t>
            </a:r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3CF1A1E-CD40-EBB5-92CE-A90A783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各ピペットの精度は正確なの？</a:t>
            </a:r>
          </a:p>
        </p:txBody>
      </p:sp>
    </p:spTree>
    <p:extLst>
      <p:ext uri="{BB962C8B-B14F-4D97-AF65-F5344CB8AC3E}">
        <p14:creationId xmlns:p14="http://schemas.microsoft.com/office/powerpoint/2010/main" val="1697448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F47EE5-BD7E-6812-7446-844BBCE8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今回使うピペット</a:t>
            </a:r>
          </a:p>
        </p:txBody>
      </p:sp>
      <p:pic>
        <p:nvPicPr>
          <p:cNvPr id="5" name="図 4" descr="マイクロピペット&#10;青いチップ">
            <a:extLst>
              <a:ext uri="{FF2B5EF4-FFF2-40B4-BE49-F238E27FC236}">
                <a16:creationId xmlns:a16="http://schemas.microsoft.com/office/drawing/2014/main" id="{D5DCBACA-D709-4C54-EA7F-4269FB937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2" y="1973925"/>
            <a:ext cx="1297726" cy="4087834"/>
          </a:xfrm>
          <a:prstGeom prst="rect">
            <a:avLst/>
          </a:prstGeom>
        </p:spPr>
      </p:pic>
      <p:pic>
        <p:nvPicPr>
          <p:cNvPr id="6" name="図 5" descr="マイクロピペット2&#10;">
            <a:extLst>
              <a:ext uri="{FF2B5EF4-FFF2-40B4-BE49-F238E27FC236}">
                <a16:creationId xmlns:a16="http://schemas.microsoft.com/office/drawing/2014/main" id="{0C9607BF-3D3E-6386-6D51-E228951C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702" y="1973924"/>
            <a:ext cx="1308106" cy="4087834"/>
          </a:xfrm>
          <a:prstGeom prst="rect">
            <a:avLst/>
          </a:prstGeom>
        </p:spPr>
      </p:pic>
      <p:pic>
        <p:nvPicPr>
          <p:cNvPr id="7" name="図 6" descr="ホールピペット">
            <a:extLst>
              <a:ext uri="{FF2B5EF4-FFF2-40B4-BE49-F238E27FC236}">
                <a16:creationId xmlns:a16="http://schemas.microsoft.com/office/drawing/2014/main" id="{7E9E2CC8-0758-6DEF-B3CA-C1A6EF22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613" r="42688"/>
          <a:stretch>
            <a:fillRect/>
          </a:stretch>
        </p:blipFill>
        <p:spPr>
          <a:xfrm>
            <a:off x="5339729" y="1973922"/>
            <a:ext cx="641746" cy="4087835"/>
          </a:xfrm>
          <a:prstGeom prst="rect">
            <a:avLst/>
          </a:prstGeom>
          <a:ln>
            <a:noFill/>
          </a:ln>
        </p:spPr>
      </p:pic>
      <p:pic>
        <p:nvPicPr>
          <p:cNvPr id="8" name="図 7" descr="メスピペット">
            <a:extLst>
              <a:ext uri="{FF2B5EF4-FFF2-40B4-BE49-F238E27FC236}">
                <a16:creationId xmlns:a16="http://schemas.microsoft.com/office/drawing/2014/main" id="{EBF5AAF7-60BF-E2A0-DEAB-C3B3CF932F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473" r="42903"/>
          <a:stretch>
            <a:fillRect/>
          </a:stretch>
        </p:blipFill>
        <p:spPr>
          <a:xfrm>
            <a:off x="7180421" y="1973922"/>
            <a:ext cx="597790" cy="4087835"/>
          </a:xfrm>
          <a:prstGeom prst="rect">
            <a:avLst/>
          </a:prstGeom>
        </p:spPr>
      </p:pic>
      <p:pic>
        <p:nvPicPr>
          <p:cNvPr id="9" name="図 8" descr="ゴム付きピペットのイラスト">
            <a:extLst>
              <a:ext uri="{FF2B5EF4-FFF2-40B4-BE49-F238E27FC236}">
                <a16:creationId xmlns:a16="http://schemas.microsoft.com/office/drawing/2014/main" id="{D66E2F43-1094-8860-E120-A32629B9C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1951" y="1973924"/>
            <a:ext cx="746029" cy="408783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AF136C-297A-FC0B-EB1F-C6BB8B42A3DD}"/>
              </a:ext>
            </a:extLst>
          </p:cNvPr>
          <p:cNvSpPr txBox="1"/>
          <p:nvPr/>
        </p:nvSpPr>
        <p:spPr>
          <a:xfrm>
            <a:off x="837865" y="6133678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P1000 x10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A8E3BF-88A7-6A3A-F626-9DD4D56BBFAB}"/>
              </a:ext>
            </a:extLst>
          </p:cNvPr>
          <p:cNvSpPr txBox="1"/>
          <p:nvPr/>
        </p:nvSpPr>
        <p:spPr>
          <a:xfrm>
            <a:off x="2683757" y="613367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P10 mL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7936213-A02E-EB34-34FC-1C9C45F5CBC9}"/>
              </a:ext>
            </a:extLst>
          </p:cNvPr>
          <p:cNvSpPr txBox="1"/>
          <p:nvPr/>
        </p:nvSpPr>
        <p:spPr>
          <a:xfrm>
            <a:off x="4875772" y="6133005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ﾎｰﾙﾋﾟﾍﾟｯﾄ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177AF8-C1F0-2103-6DF6-C15AE69D1977}"/>
              </a:ext>
            </a:extLst>
          </p:cNvPr>
          <p:cNvSpPr txBox="1"/>
          <p:nvPr/>
        </p:nvSpPr>
        <p:spPr>
          <a:xfrm>
            <a:off x="6771430" y="61330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ﾒｽﾋﾟﾍﾟｯﾄ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23CE94-1D90-4612-3A74-4D9D738502C3}"/>
              </a:ext>
            </a:extLst>
          </p:cNvPr>
          <p:cNvSpPr txBox="1"/>
          <p:nvPr/>
        </p:nvSpPr>
        <p:spPr>
          <a:xfrm>
            <a:off x="8483190" y="613300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駒込ﾋﾟﾍﾟｯﾄ</a:t>
            </a:r>
          </a:p>
        </p:txBody>
      </p:sp>
    </p:spTree>
    <p:extLst>
      <p:ext uri="{BB962C8B-B14F-4D97-AF65-F5344CB8AC3E}">
        <p14:creationId xmlns:p14="http://schemas.microsoft.com/office/powerpoint/2010/main" val="314811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E6A48BE-4A0F-1FD4-6810-B2152B22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メニスカスを意識する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6600252-F29F-03C1-3E97-39DEF85D67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dirty="0"/>
              <a:t>溶液を吸い上げると，液面は湾曲する．</a:t>
            </a:r>
          </a:p>
          <a:p>
            <a:pPr>
              <a:lnSpc>
                <a:spcPct val="150000"/>
              </a:lnSpc>
            </a:pPr>
            <a:r>
              <a:rPr lang="ja-JP" altLang="en-US" sz="3200" dirty="0"/>
              <a:t>目線をメモリに対して</a:t>
            </a:r>
            <a:r>
              <a:rPr lang="ja-JP" altLang="en-US" sz="3200" dirty="0">
                <a:solidFill>
                  <a:schemeClr val="accent6"/>
                </a:solidFill>
              </a:rPr>
              <a:t>垂直に見る</a:t>
            </a:r>
            <a:r>
              <a:rPr lang="ja-JP" altLang="en-US" sz="3200" dirty="0"/>
              <a:t>．</a:t>
            </a:r>
          </a:p>
          <a:p>
            <a:pPr>
              <a:lnSpc>
                <a:spcPct val="150000"/>
              </a:lnSpc>
            </a:pPr>
            <a:r>
              <a:rPr lang="ja-JP" altLang="en-US" sz="3200" dirty="0"/>
              <a:t>メモリや標線は湾曲した</a:t>
            </a:r>
            <a:r>
              <a:rPr lang="ja-JP" altLang="en-US" sz="3200" dirty="0">
                <a:solidFill>
                  <a:schemeClr val="accent6"/>
                </a:solidFill>
              </a:rPr>
              <a:t>下の面に合わせて</a:t>
            </a:r>
            <a:r>
              <a:rPr lang="ja-JP" altLang="en-US" sz="3200" dirty="0"/>
              <a:t>読む．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111998F-3BB1-D4E9-B66E-B38397782DB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ja-JP" altLang="en-US"/>
              <a:t>引用</a:t>
            </a:r>
            <a:r>
              <a:rPr lang="en-US" altLang="ja-JP"/>
              <a:t>: </a:t>
            </a:r>
            <a:r>
              <a:rPr lang="ja-JP" altLang="en-US"/>
              <a:t>研究ネット，</a:t>
            </a:r>
            <a:r>
              <a:rPr lang="en-US" altLang="ja-JP">
                <a:hlinkClick r:id="rId2"/>
              </a:rPr>
              <a:t>https://www.wdb.com/kenq/illust/how-to-see-the-meniscus</a:t>
            </a:r>
            <a:r>
              <a:rPr lang="ja-JP" altLang="en-US"/>
              <a:t>．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C8C4412-FC54-F7D1-9BF5-BC53EAED1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357" y="2253589"/>
            <a:ext cx="3815183" cy="381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6D293-A4D9-0451-14A2-0AB856BB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実際に定容してみよう！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572AA-0C2C-8C5D-407F-5D1A4CD366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台秤にビーカーを置き，</a:t>
            </a:r>
            <a:r>
              <a:rPr lang="en-US" altLang="ja-JP" dirty="0">
                <a:solidFill>
                  <a:schemeClr val="accent6"/>
                </a:solidFill>
              </a:rPr>
              <a:t>0</a:t>
            </a:r>
            <a:r>
              <a:rPr lang="ja-JP" altLang="en-US" dirty="0">
                <a:solidFill>
                  <a:schemeClr val="accent6"/>
                </a:solidFill>
              </a:rPr>
              <a:t>合わせ</a:t>
            </a:r>
            <a:r>
              <a:rPr lang="ja-JP" altLang="en-US" dirty="0"/>
              <a:t>をする．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ビーカーに</a:t>
            </a:r>
            <a:r>
              <a:rPr lang="en-US" altLang="ja-JP" dirty="0">
                <a:solidFill>
                  <a:schemeClr val="bg1"/>
                </a:solidFill>
              </a:rPr>
              <a:t>1/3</a:t>
            </a:r>
            <a:r>
              <a:rPr lang="ja-JP" altLang="en-US" dirty="0">
                <a:solidFill>
                  <a:schemeClr val="bg1"/>
                </a:solidFill>
              </a:rPr>
              <a:t>程度の水道水を入れる．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ピペットを用いて，</a:t>
            </a:r>
            <a:r>
              <a:rPr lang="en-US" altLang="ja-JP" dirty="0">
                <a:solidFill>
                  <a:schemeClr val="bg1"/>
                </a:solidFill>
              </a:rPr>
              <a:t>10</a:t>
            </a:r>
            <a:r>
              <a:rPr lang="ja-JP" altLang="en-US" dirty="0">
                <a:solidFill>
                  <a:schemeClr val="bg1"/>
                </a:solidFill>
              </a:rPr>
              <a:t> </a:t>
            </a:r>
            <a:r>
              <a:rPr lang="en-US" altLang="ja-JP" dirty="0">
                <a:solidFill>
                  <a:schemeClr val="bg1"/>
                </a:solidFill>
              </a:rPr>
              <a:t>mL</a:t>
            </a:r>
            <a:r>
              <a:rPr lang="ja-JP" altLang="en-US" dirty="0">
                <a:solidFill>
                  <a:schemeClr val="bg1"/>
                </a:solidFill>
              </a:rPr>
              <a:t>吸い上げる．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吸い上げた水道水をビーカーに捨てる．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これを班で</a:t>
            </a:r>
            <a:r>
              <a:rPr lang="en-US" altLang="ja-JP" dirty="0">
                <a:solidFill>
                  <a:schemeClr val="bg1"/>
                </a:solidFill>
              </a:rPr>
              <a:t>10</a:t>
            </a:r>
            <a:r>
              <a:rPr lang="ja-JP" altLang="en-US" dirty="0">
                <a:solidFill>
                  <a:schemeClr val="bg1"/>
                </a:solidFill>
              </a:rPr>
              <a:t>回繰り返し，台秤の数値を記録する．</a:t>
            </a:r>
            <a:endParaRPr lang="en-US" altLang="ja-JP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altLang="ja-JP" dirty="0">
                <a:solidFill>
                  <a:schemeClr val="bg1"/>
                </a:solidFill>
              </a:rPr>
              <a:t>1 mL </a:t>
            </a:r>
            <a:r>
              <a:rPr lang="ja-JP" altLang="en-US" dirty="0">
                <a:solidFill>
                  <a:schemeClr val="bg1"/>
                </a:solidFill>
              </a:rPr>
              <a:t>≒ </a:t>
            </a:r>
            <a:r>
              <a:rPr lang="en-US" altLang="ja-JP" dirty="0">
                <a:solidFill>
                  <a:schemeClr val="bg1"/>
                </a:solidFill>
              </a:rPr>
              <a:t>1 g</a:t>
            </a:r>
            <a:r>
              <a:rPr lang="ja-JP" altLang="en-US" dirty="0">
                <a:solidFill>
                  <a:schemeClr val="bg1"/>
                </a:solidFill>
              </a:rPr>
              <a:t>とする．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23131-5106-E7DB-20FC-AF7B888710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ビーカー</a:t>
            </a:r>
            <a:r>
              <a:rPr lang="en-US" altLang="ja-JP" dirty="0"/>
              <a:t>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https://www.wdb.com/kenq/illust/beaker</a:t>
            </a:r>
            <a:r>
              <a:rPr lang="ja-JP" altLang="en-US" dirty="0"/>
              <a:t>．</a:t>
            </a:r>
          </a:p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電子天秤</a:t>
            </a:r>
            <a:r>
              <a:rPr lang="en-US" altLang="ja-JP" dirty="0"/>
              <a:t>): </a:t>
            </a:r>
            <a:r>
              <a:rPr lang="en-US" altLang="ja-JP" dirty="0" err="1"/>
              <a:t>illustAC</a:t>
            </a:r>
            <a:r>
              <a:rPr lang="ja-JP" altLang="en-US" dirty="0"/>
              <a:t>，</a:t>
            </a:r>
            <a:r>
              <a:rPr lang="af-ZA" altLang="ja-JP" dirty="0">
                <a:hlinkClick r:id="rId3"/>
              </a:rPr>
              <a:t>https://www.ac-illust.com/main/detail.php?id=23172800</a:t>
            </a:r>
            <a:r>
              <a:rPr lang="ja-JP" altLang="en-US" dirty="0"/>
              <a:t>．</a:t>
            </a:r>
            <a:r>
              <a:rPr lang="en-US" altLang="ja-JP" dirty="0"/>
              <a:t> </a:t>
            </a:r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732879F-052D-CF64-E5DB-52CD64EA2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92" y="3737394"/>
            <a:ext cx="4383915" cy="3277943"/>
          </a:xfrm>
          <a:prstGeom prst="rect">
            <a:avLst/>
          </a:prstGeom>
        </p:spPr>
      </p:pic>
      <p:pic>
        <p:nvPicPr>
          <p:cNvPr id="5" name="図 4" descr="ビーカー">
            <a:extLst>
              <a:ext uri="{FF2B5EF4-FFF2-40B4-BE49-F238E27FC236}">
                <a16:creationId xmlns:a16="http://schemas.microsoft.com/office/drawing/2014/main" id="{4C2B9081-EA1C-CD4E-44BE-B095596F35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1" t="29195" r="63840" b="26639"/>
          <a:stretch>
            <a:fillRect/>
          </a:stretch>
        </p:blipFill>
        <p:spPr>
          <a:xfrm>
            <a:off x="2257425" y="3969832"/>
            <a:ext cx="951788" cy="123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6D293-A4D9-0451-14A2-0AB856BB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実際に定容してみよう！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572AA-0C2C-8C5D-407F-5D1A4CD366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台秤にビーカーを置き，</a:t>
            </a:r>
            <a:r>
              <a:rPr lang="en-US" altLang="ja-JP" dirty="0">
                <a:solidFill>
                  <a:schemeClr val="accent6"/>
                </a:solidFill>
              </a:rPr>
              <a:t>0</a:t>
            </a:r>
            <a:r>
              <a:rPr lang="ja-JP" altLang="en-US" dirty="0">
                <a:solidFill>
                  <a:schemeClr val="accent6"/>
                </a:solidFill>
              </a:rPr>
              <a:t>合わせ</a:t>
            </a:r>
            <a:r>
              <a:rPr lang="ja-JP" altLang="en-US" dirty="0"/>
              <a:t>をする．</a:t>
            </a:r>
          </a:p>
          <a:p>
            <a:r>
              <a:rPr lang="ja-JP" altLang="en-US" dirty="0"/>
              <a:t>ビーカーに</a:t>
            </a:r>
            <a:r>
              <a:rPr lang="en-US" altLang="ja-JP" dirty="0">
                <a:solidFill>
                  <a:schemeClr val="accent6"/>
                </a:solidFill>
              </a:rPr>
              <a:t>1/3</a:t>
            </a:r>
            <a:r>
              <a:rPr lang="ja-JP" altLang="en-US" dirty="0">
                <a:solidFill>
                  <a:schemeClr val="accent6"/>
                </a:solidFill>
              </a:rPr>
              <a:t>程度の水道水</a:t>
            </a:r>
            <a:r>
              <a:rPr lang="ja-JP" altLang="en-US" dirty="0"/>
              <a:t>を入れる．</a:t>
            </a:r>
          </a:p>
          <a:p>
            <a:r>
              <a:rPr lang="ja-JP" altLang="en-US" dirty="0"/>
              <a:t>各ピペットを用いて，</a:t>
            </a:r>
            <a:r>
              <a:rPr lang="en-US" altLang="ja-JP" dirty="0"/>
              <a:t>10</a:t>
            </a:r>
            <a:r>
              <a:rPr lang="ja-JP" altLang="en-US" dirty="0"/>
              <a:t> </a:t>
            </a:r>
            <a:r>
              <a:rPr lang="en-US" altLang="ja-JP" dirty="0"/>
              <a:t>mL</a:t>
            </a:r>
            <a:r>
              <a:rPr lang="ja-JP" altLang="en-US" dirty="0"/>
              <a:t>吸い上げる．</a:t>
            </a:r>
          </a:p>
          <a:p>
            <a:r>
              <a:rPr lang="ja-JP" altLang="en-US" dirty="0"/>
              <a:t>吸い上げた水道水をビーカーに捨てる．</a:t>
            </a:r>
          </a:p>
          <a:p>
            <a:r>
              <a:rPr lang="ja-JP" altLang="en-US" dirty="0"/>
              <a:t>これを班で</a:t>
            </a:r>
            <a:r>
              <a:rPr lang="en-US" altLang="ja-JP" dirty="0"/>
              <a:t>10</a:t>
            </a:r>
            <a:r>
              <a:rPr lang="ja-JP" altLang="en-US" dirty="0"/>
              <a:t>回繰り返し，台秤の数値を記録する．</a:t>
            </a:r>
            <a:endParaRPr lang="en-US" altLang="ja-JP" dirty="0"/>
          </a:p>
          <a:p>
            <a:r>
              <a:rPr lang="en-US" altLang="ja-JP" dirty="0">
                <a:solidFill>
                  <a:schemeClr val="accent6"/>
                </a:solidFill>
              </a:rPr>
              <a:t>1 mL </a:t>
            </a:r>
            <a:r>
              <a:rPr lang="ja-JP" altLang="en-US" dirty="0">
                <a:solidFill>
                  <a:schemeClr val="accent6"/>
                </a:solidFill>
              </a:rPr>
              <a:t>≒ </a:t>
            </a:r>
            <a:r>
              <a:rPr lang="en-US" altLang="ja-JP" dirty="0">
                <a:solidFill>
                  <a:schemeClr val="accent6"/>
                </a:solidFill>
              </a:rPr>
              <a:t>1 g</a:t>
            </a:r>
            <a:r>
              <a:rPr lang="ja-JP" altLang="en-US" dirty="0"/>
              <a:t>とする．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23131-5106-E7DB-20FC-AF7B888710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ビーカー</a:t>
            </a:r>
            <a:r>
              <a:rPr lang="en-US" altLang="ja-JP" dirty="0"/>
              <a:t>(</a:t>
            </a:r>
            <a:r>
              <a:rPr lang="ja-JP" altLang="en-US" dirty="0"/>
              <a:t>溶液</a:t>
            </a:r>
            <a:r>
              <a:rPr lang="en-US" altLang="ja-JP" dirty="0"/>
              <a:t>)):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https://www.wdb.com/kenq/illust/beaker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ピペットマン</a:t>
            </a:r>
            <a:r>
              <a:rPr lang="en-US" altLang="ja-JP" dirty="0"/>
              <a:t>)</a:t>
            </a:r>
            <a:r>
              <a:rPr lang="ja-JP" altLang="en-US" dirty="0"/>
              <a:t>　</a:t>
            </a:r>
            <a:r>
              <a:rPr lang="en-US" altLang="ja-JP" dirty="0"/>
              <a:t>: </a:t>
            </a:r>
            <a:r>
              <a:rPr lang="ja-JP" altLang="en-US" dirty="0"/>
              <a:t>かがくイラスト，</a:t>
            </a:r>
            <a:r>
              <a:rPr lang="en-US" altLang="ja-JP" dirty="0">
                <a:hlinkClick r:id="rId3"/>
              </a:rPr>
              <a:t>https://science-illust.com/single-channel-micropipettes</a:t>
            </a:r>
            <a:r>
              <a:rPr lang="ja-JP" altLang="en-US" dirty="0"/>
              <a:t>．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732879F-052D-CF64-E5DB-52CD64EA2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92" y="3737394"/>
            <a:ext cx="4383915" cy="3277943"/>
          </a:xfrm>
          <a:prstGeom prst="rect">
            <a:avLst/>
          </a:prstGeom>
        </p:spPr>
      </p:pic>
      <p:pic>
        <p:nvPicPr>
          <p:cNvPr id="5" name="図 4" descr="ビーカー（溶液）">
            <a:extLst>
              <a:ext uri="{FF2B5EF4-FFF2-40B4-BE49-F238E27FC236}">
                <a16:creationId xmlns:a16="http://schemas.microsoft.com/office/drawing/2014/main" id="{7CBA7B33-FCCE-2683-C010-5D8F6311DA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5" t="29195" r="64465" b="26640"/>
          <a:stretch>
            <a:fillRect/>
          </a:stretch>
        </p:blipFill>
        <p:spPr>
          <a:xfrm>
            <a:off x="2257425" y="3969832"/>
            <a:ext cx="951788" cy="1236391"/>
          </a:xfrm>
          <a:prstGeom prst="rect">
            <a:avLst/>
          </a:prstGeom>
        </p:spPr>
      </p:pic>
      <p:pic>
        <p:nvPicPr>
          <p:cNvPr id="22" name="図 21" descr="マイクロピペット&#10;青いチップ">
            <a:extLst>
              <a:ext uri="{FF2B5EF4-FFF2-40B4-BE49-F238E27FC236}">
                <a16:creationId xmlns:a16="http://schemas.microsoft.com/office/drawing/2014/main" id="{8B26A3A1-28A2-2B87-4C60-F08ABEA4F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0697" y="1805179"/>
            <a:ext cx="972375" cy="306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0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4DC6-D8D4-D47B-F531-882C20F88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292E6-A75A-AA6F-A268-9D8636CF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精度の違い </a:t>
            </a:r>
            <a:r>
              <a:rPr lang="en-US" altLang="ja-JP" dirty="0"/>
              <a:t>-</a:t>
            </a:r>
            <a:r>
              <a:rPr kumimoji="1" lang="ja-JP" altLang="en-US" dirty="0"/>
              <a:t>ピペット</a:t>
            </a:r>
            <a:r>
              <a:rPr kumimoji="1" lang="en-US" altLang="ja-JP" dirty="0"/>
              <a:t>-</a:t>
            </a:r>
            <a:endParaRPr kumimoji="1" lang="ja-JP" altLang="en-US" dirty="0"/>
          </a:p>
        </p:txBody>
      </p:sp>
      <p:pic>
        <p:nvPicPr>
          <p:cNvPr id="5" name="図 4" descr="マイクロピペット&#10;青いチップ">
            <a:extLst>
              <a:ext uri="{FF2B5EF4-FFF2-40B4-BE49-F238E27FC236}">
                <a16:creationId xmlns:a16="http://schemas.microsoft.com/office/drawing/2014/main" id="{A897BE57-951B-A093-427F-97C1B23FA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6" y="2271871"/>
            <a:ext cx="1297726" cy="4087834"/>
          </a:xfrm>
          <a:prstGeom prst="rect">
            <a:avLst/>
          </a:prstGeom>
        </p:spPr>
      </p:pic>
      <p:pic>
        <p:nvPicPr>
          <p:cNvPr id="6" name="図 5" descr="マイクロピペット2&#10;">
            <a:extLst>
              <a:ext uri="{FF2B5EF4-FFF2-40B4-BE49-F238E27FC236}">
                <a16:creationId xmlns:a16="http://schemas.microsoft.com/office/drawing/2014/main" id="{AF310C49-1214-129A-69A5-DA915A745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044" y="2271870"/>
            <a:ext cx="1308106" cy="4087834"/>
          </a:xfrm>
          <a:prstGeom prst="rect">
            <a:avLst/>
          </a:prstGeom>
        </p:spPr>
      </p:pic>
      <p:pic>
        <p:nvPicPr>
          <p:cNvPr id="7" name="図 6" descr="ホールピペット">
            <a:extLst>
              <a:ext uri="{FF2B5EF4-FFF2-40B4-BE49-F238E27FC236}">
                <a16:creationId xmlns:a16="http://schemas.microsoft.com/office/drawing/2014/main" id="{6D0C93C3-FE88-082A-2678-60F465D45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613" r="42688"/>
          <a:stretch>
            <a:fillRect/>
          </a:stretch>
        </p:blipFill>
        <p:spPr>
          <a:xfrm>
            <a:off x="5154797" y="2271868"/>
            <a:ext cx="641746" cy="4087835"/>
          </a:xfrm>
          <a:prstGeom prst="rect">
            <a:avLst/>
          </a:prstGeom>
          <a:ln>
            <a:noFill/>
          </a:ln>
        </p:spPr>
      </p:pic>
      <p:pic>
        <p:nvPicPr>
          <p:cNvPr id="8" name="図 7" descr="メスピペット">
            <a:extLst>
              <a:ext uri="{FF2B5EF4-FFF2-40B4-BE49-F238E27FC236}">
                <a16:creationId xmlns:a16="http://schemas.microsoft.com/office/drawing/2014/main" id="{BDF2B7D6-3BC7-29A9-EC41-2DB687C299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473" r="42903"/>
          <a:stretch>
            <a:fillRect/>
          </a:stretch>
        </p:blipFill>
        <p:spPr>
          <a:xfrm>
            <a:off x="6748912" y="2271868"/>
            <a:ext cx="597790" cy="4087835"/>
          </a:xfrm>
          <a:prstGeom prst="rect">
            <a:avLst/>
          </a:prstGeom>
        </p:spPr>
      </p:pic>
      <p:pic>
        <p:nvPicPr>
          <p:cNvPr id="9" name="図 8" descr="ゴム付きピペットのイラスト">
            <a:extLst>
              <a:ext uri="{FF2B5EF4-FFF2-40B4-BE49-F238E27FC236}">
                <a16:creationId xmlns:a16="http://schemas.microsoft.com/office/drawing/2014/main" id="{56684020-C55D-0B6F-6459-AEFCD72F5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3047" y="2271870"/>
            <a:ext cx="746029" cy="408783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7A28B0-002C-7B60-1947-6805F170F09A}"/>
              </a:ext>
            </a:extLst>
          </p:cNvPr>
          <p:cNvSpPr txBox="1"/>
          <p:nvPr/>
        </p:nvSpPr>
        <p:spPr>
          <a:xfrm>
            <a:off x="437179" y="6431624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P1000 x10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F99FBEB-71DD-6C2D-B23A-F55DECABC912}"/>
              </a:ext>
            </a:extLst>
          </p:cNvPr>
          <p:cNvSpPr txBox="1"/>
          <p:nvPr/>
        </p:nvSpPr>
        <p:spPr>
          <a:xfrm>
            <a:off x="2509099" y="643162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P10 mL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6F4DFDC-3336-26DD-2519-0C9B45F8949B}"/>
              </a:ext>
            </a:extLst>
          </p:cNvPr>
          <p:cNvSpPr txBox="1"/>
          <p:nvPr/>
        </p:nvSpPr>
        <p:spPr>
          <a:xfrm>
            <a:off x="4690840" y="6430951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ﾎｰﾙﾋﾟﾍﾟｯﾄ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1F683B-BB8B-EBDF-2FFA-74F918A69B8E}"/>
              </a:ext>
            </a:extLst>
          </p:cNvPr>
          <p:cNvSpPr txBox="1"/>
          <p:nvPr/>
        </p:nvSpPr>
        <p:spPr>
          <a:xfrm>
            <a:off x="6339921" y="64309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ﾒｽﾋﾟﾍﾟｯﾄ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D555DE3-1224-B7B0-BAB6-F753629E5E54}"/>
              </a:ext>
            </a:extLst>
          </p:cNvPr>
          <p:cNvSpPr txBox="1"/>
          <p:nvPr/>
        </p:nvSpPr>
        <p:spPr>
          <a:xfrm>
            <a:off x="8524286" y="643095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駒込ﾋﾟﾍﾟｯﾄ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31529F7-B9C0-B3EC-9AD1-C0B6985B7B84}"/>
              </a:ext>
            </a:extLst>
          </p:cNvPr>
          <p:cNvCxnSpPr/>
          <p:nvPr/>
        </p:nvCxnSpPr>
        <p:spPr>
          <a:xfrm>
            <a:off x="4479533" y="1623317"/>
            <a:ext cx="0" cy="5269298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矢印: 左右 18">
            <a:extLst>
              <a:ext uri="{FF2B5EF4-FFF2-40B4-BE49-F238E27FC236}">
                <a16:creationId xmlns:a16="http://schemas.microsoft.com/office/drawing/2014/main" id="{0418B121-DBF6-6712-B1BE-302A5C8BE851}"/>
              </a:ext>
            </a:extLst>
          </p:cNvPr>
          <p:cNvSpPr/>
          <p:nvPr/>
        </p:nvSpPr>
        <p:spPr>
          <a:xfrm>
            <a:off x="90848" y="1521880"/>
            <a:ext cx="4232945" cy="749988"/>
          </a:xfrm>
          <a:prstGeom prst="leftRightArrow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高</a:t>
            </a:r>
            <a:r>
              <a:rPr kumimoji="1" lang="en-US" altLang="ja-JP" sz="2800" dirty="0"/>
              <a:t>			</a:t>
            </a:r>
            <a:r>
              <a:rPr kumimoji="1" lang="ja-JP" altLang="en-US" sz="2800" dirty="0"/>
              <a:t>精度</a:t>
            </a:r>
            <a:r>
              <a:rPr kumimoji="1" lang="en-US" altLang="ja-JP" sz="2800" dirty="0"/>
              <a:t>			</a:t>
            </a:r>
            <a:r>
              <a:rPr kumimoji="1" lang="ja-JP" altLang="en-US" sz="2800" dirty="0"/>
              <a:t>低</a:t>
            </a:r>
          </a:p>
        </p:txBody>
      </p:sp>
      <p:sp>
        <p:nvSpPr>
          <p:cNvPr id="20" name="矢印: 左右 19">
            <a:extLst>
              <a:ext uri="{FF2B5EF4-FFF2-40B4-BE49-F238E27FC236}">
                <a16:creationId xmlns:a16="http://schemas.microsoft.com/office/drawing/2014/main" id="{F0E6802E-C820-E9D6-9D38-567271017B31}"/>
              </a:ext>
            </a:extLst>
          </p:cNvPr>
          <p:cNvSpPr/>
          <p:nvPr/>
        </p:nvSpPr>
        <p:spPr>
          <a:xfrm>
            <a:off x="4635937" y="1521880"/>
            <a:ext cx="5570799" cy="749988"/>
          </a:xfrm>
          <a:prstGeom prst="leftRightArrow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高</a:t>
            </a:r>
            <a:r>
              <a:rPr kumimoji="1" lang="en-US" altLang="ja-JP" sz="2800" dirty="0"/>
              <a:t>				</a:t>
            </a:r>
            <a:r>
              <a:rPr kumimoji="1" lang="ja-JP" altLang="en-US" sz="2800" dirty="0"/>
              <a:t>精度</a:t>
            </a:r>
            <a:r>
              <a:rPr kumimoji="1" lang="en-US" altLang="ja-JP" sz="2800" dirty="0"/>
              <a:t>				</a:t>
            </a:r>
            <a:r>
              <a:rPr kumimoji="1" lang="ja-JP" altLang="en-US" sz="2800" dirty="0"/>
              <a:t>低</a:t>
            </a:r>
          </a:p>
        </p:txBody>
      </p:sp>
    </p:spTree>
    <p:extLst>
      <p:ext uri="{BB962C8B-B14F-4D97-AF65-F5344CB8AC3E}">
        <p14:creationId xmlns:p14="http://schemas.microsoft.com/office/powerpoint/2010/main" val="73831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7811-70ED-301C-0886-C20871DD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3FF51A4-9583-B6A8-4F2C-25303759A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各定容器具の使い方と精度について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CAF82D-76DF-1D0B-A62F-1C88243B91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kumimoji="1" lang="en-US" altLang="ja-JP" sz="4800"/>
              <a:t>03</a:t>
            </a:r>
            <a:endParaRPr kumimoji="1" lang="ja-JP" altLang="en-US" sz="480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85A1F55-0F76-6FCF-9823-56596BEB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907" y="1320089"/>
            <a:ext cx="8714906" cy="662808"/>
          </a:xfrm>
        </p:spPr>
        <p:txBody>
          <a:bodyPr/>
          <a:lstStyle/>
          <a:p>
            <a:r>
              <a:rPr kumimoji="1" lang="en-US" altLang="ja-JP" sz="3600"/>
              <a:t>1 mL</a:t>
            </a:r>
            <a:r>
              <a:rPr kumimoji="1" lang="ja-JP" altLang="en-US" sz="3600"/>
              <a:t>以上の溶液を正確に量り取りたい！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0CB918-E921-B406-F54D-D6671A60C7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/>
              <a:t>ビーカーの使用目的</a:t>
            </a:r>
            <a:endParaRPr kumimoji="1" lang="en-US" altLang="ja-JP"/>
          </a:p>
          <a:p>
            <a:r>
              <a:rPr kumimoji="1" lang="ja-JP" altLang="en-US"/>
              <a:t>メスフラスコの使い方と目的</a:t>
            </a:r>
            <a:endParaRPr kumimoji="1" lang="en-US" altLang="ja-JP"/>
          </a:p>
          <a:p>
            <a:r>
              <a:rPr lang="ja-JP" altLang="en-US"/>
              <a:t>メスシリンダの使い方と目的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3981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92D67B-839F-5E43-6D08-F22253A8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ビーカー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7D6B31-179D-B73B-7A05-F6695905F1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3200"/>
              <a:t>ただの容器にすぎない．</a:t>
            </a:r>
            <a:endParaRPr kumimoji="1" lang="en-US" altLang="ja-JP" sz="3200"/>
          </a:p>
          <a:p>
            <a:pPr algn="l">
              <a:lnSpc>
                <a:spcPct val="150000"/>
              </a:lnSpc>
            </a:pPr>
            <a:r>
              <a:rPr lang="ja-JP" altLang="en-US" sz="3200"/>
              <a:t>メモリは存在するが，</a:t>
            </a:r>
            <a:r>
              <a:rPr lang="ja-JP" altLang="en-US" sz="3200">
                <a:solidFill>
                  <a:schemeClr val="accent6"/>
                </a:solidFill>
              </a:rPr>
              <a:t>ほぼその機能を成していない</a:t>
            </a:r>
            <a:r>
              <a:rPr lang="ja-JP" altLang="en-US" sz="3200"/>
              <a:t>．</a:t>
            </a:r>
            <a:endParaRPr lang="en-US" altLang="ja-JP" sz="3200"/>
          </a:p>
          <a:p>
            <a:pPr algn="l">
              <a:lnSpc>
                <a:spcPct val="150000"/>
              </a:lnSpc>
            </a:pPr>
            <a:r>
              <a:rPr kumimoji="1" lang="ja-JP" altLang="en-US" sz="3200"/>
              <a:t>溶液を作製するときによく用いられる．</a:t>
            </a:r>
            <a:endParaRPr kumimoji="1" lang="en-US" altLang="ja-JP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178F77-3C9A-1684-F2F1-3D4BFB9B60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(</a:t>
            </a:r>
            <a:r>
              <a:rPr kumimoji="1" lang="ja-JP" altLang="en-US" dirty="0"/>
              <a:t>ビーカー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溶液</a:t>
            </a:r>
            <a:r>
              <a:rPr lang="en-US" altLang="ja-JP" dirty="0"/>
              <a:t>)): </a:t>
            </a:r>
            <a:r>
              <a:rPr lang="en-US" altLang="ja-JP" dirty="0">
                <a:hlinkClick r:id="rId2"/>
              </a:rPr>
              <a:t>https://www.wdb.com/kenq/illust/beaker-with-solution</a:t>
            </a:r>
            <a:r>
              <a:rPr lang="ja-JP" altLang="en-US" dirty="0"/>
              <a:t>．</a:t>
            </a:r>
            <a:endParaRPr kumimoji="1" lang="en-US" altLang="ja-JP" dirty="0"/>
          </a:p>
        </p:txBody>
      </p:sp>
      <p:pic>
        <p:nvPicPr>
          <p:cNvPr id="6" name="図 5" descr="ビーカー（溶液）">
            <a:extLst>
              <a:ext uri="{FF2B5EF4-FFF2-40B4-BE49-F238E27FC236}">
                <a16:creationId xmlns:a16="http://schemas.microsoft.com/office/drawing/2014/main" id="{1557C88B-A074-55F3-B268-719B4849F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55" r="64212" b="25934"/>
          <a:stretch>
            <a:fillRect/>
          </a:stretch>
        </p:blipFill>
        <p:spPr>
          <a:xfrm>
            <a:off x="1595970" y="2879601"/>
            <a:ext cx="2054943" cy="262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7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3C4051-D91C-2A44-157E-6871B159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メスシリンダ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0B32CA-7A14-65D9-E3F5-DFCA94C727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ja-JP" altLang="en-US" sz="3200" dirty="0">
                <a:solidFill>
                  <a:schemeClr val="accent6"/>
                </a:solidFill>
              </a:rPr>
              <a:t>任意の液量</a:t>
            </a:r>
            <a:r>
              <a:rPr kumimoji="1" lang="ja-JP" altLang="en-US" sz="3200" dirty="0"/>
              <a:t>を正確に量り取るときに用いる．</a:t>
            </a:r>
            <a:endParaRPr kumimoji="1" lang="en-US" altLang="ja-JP" sz="3200" dirty="0"/>
          </a:p>
          <a:p>
            <a:pPr>
              <a:lnSpc>
                <a:spcPct val="200000"/>
              </a:lnSpc>
            </a:pPr>
            <a:r>
              <a:rPr lang="en-US" altLang="ja-JP" sz="3200" dirty="0"/>
              <a:t>vol%</a:t>
            </a:r>
            <a:r>
              <a:rPr lang="ja-JP" altLang="en-US" sz="3200" dirty="0"/>
              <a:t>の濃度調製を行うときによく用いる．</a:t>
            </a:r>
            <a:endParaRPr lang="en-US" altLang="ja-JP" sz="32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0D94B4-BF22-A4B1-C09F-56069788B6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/>
              <a:t>引用</a:t>
            </a:r>
            <a:r>
              <a:rPr kumimoji="1" lang="en-US" altLang="ja-JP"/>
              <a:t>: </a:t>
            </a:r>
            <a:r>
              <a:rPr kumimoji="1" lang="ja-JP" altLang="en-US"/>
              <a:t>かがくイラスト，</a:t>
            </a:r>
            <a:r>
              <a:rPr lang="en-US" altLang="ja-JP">
                <a:hlinkClick r:id="rId2"/>
              </a:rPr>
              <a:t>https://science-illust.com/graduated_cylinders</a:t>
            </a:r>
            <a:r>
              <a:rPr lang="ja-JP" altLang="en-US"/>
              <a:t>．</a:t>
            </a:r>
            <a:endParaRPr kumimoji="1" lang="ja-JP" altLang="en-US"/>
          </a:p>
        </p:txBody>
      </p:sp>
      <p:pic>
        <p:nvPicPr>
          <p:cNvPr id="5" name="図 4" descr="ガラス製メスシリンダー&#10;化学イラスト">
            <a:extLst>
              <a:ext uri="{FF2B5EF4-FFF2-40B4-BE49-F238E27FC236}">
                <a16:creationId xmlns:a16="http://schemas.microsoft.com/office/drawing/2014/main" id="{D0A00FFF-4C1C-691B-3482-0481092B6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523" y="1763093"/>
            <a:ext cx="2911050" cy="509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61168C-0D3A-3918-6139-B2759190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メスフラスコ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DD0241-6613-C730-D90A-45FAFF6C94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3200">
                <a:solidFill>
                  <a:schemeClr val="accent6"/>
                </a:solidFill>
              </a:rPr>
              <a:t>特定の液量</a:t>
            </a:r>
            <a:r>
              <a:rPr kumimoji="1" lang="ja-JP" altLang="en-US" sz="3200"/>
              <a:t>を正確に量り取るときに用いる．</a:t>
            </a:r>
            <a:endParaRPr kumimoji="1" lang="en-US" altLang="ja-JP" sz="3200"/>
          </a:p>
          <a:p>
            <a:pPr>
              <a:lnSpc>
                <a:spcPct val="150000"/>
              </a:lnSpc>
            </a:pPr>
            <a:r>
              <a:rPr kumimoji="1" lang="ja-JP" altLang="en-US" sz="3200">
                <a:solidFill>
                  <a:schemeClr val="accent6"/>
                </a:solidFill>
              </a:rPr>
              <a:t>濃度調製</a:t>
            </a:r>
            <a:r>
              <a:rPr kumimoji="1" lang="ja-JP" altLang="en-US" sz="3200"/>
              <a:t>をするときに用いる．</a:t>
            </a:r>
            <a:endParaRPr kumimoji="1" lang="en-US" altLang="ja-JP" sz="3200"/>
          </a:p>
          <a:p>
            <a:pPr>
              <a:lnSpc>
                <a:spcPct val="150000"/>
              </a:lnSpc>
            </a:pPr>
            <a:r>
              <a:rPr lang="en-US" altLang="ja-JP" sz="3200"/>
              <a:t>7</a:t>
            </a:r>
            <a:r>
              <a:rPr lang="ja-JP" altLang="en-US" sz="3200"/>
              <a:t>回転倒緩和することで，濃度が一様になる．</a:t>
            </a:r>
            <a:endParaRPr kumimoji="1" lang="ja-JP" altLang="en-US" sz="32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AFBB87-49BF-1809-9B18-41DC12794E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かがくイラスト，</a:t>
            </a:r>
            <a:r>
              <a:rPr lang="en-US" altLang="ja-JP" dirty="0">
                <a:hlinkClick r:id="rId2"/>
              </a:rPr>
              <a:t>https://science-illust.com/volumetric_flask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調製中のメスフラスコ・無地&#10;標線オレンジ">
            <a:extLst>
              <a:ext uri="{FF2B5EF4-FFF2-40B4-BE49-F238E27FC236}">
                <a16:creationId xmlns:a16="http://schemas.microsoft.com/office/drawing/2014/main" id="{B820AC6F-2972-FFF0-00EE-D6A4645F8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112" y="1905340"/>
            <a:ext cx="1567581" cy="457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3BE47E-8246-930E-4096-5D1B092204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メスシリンダ・メスフラスコを使ってみよう！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CE9EBD-8344-9C8E-1317-E18B5860A6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/>
              <a:t>04</a:t>
            </a:r>
            <a:endParaRPr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3CF1A1E-CD40-EBB5-92CE-A90A7833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大量の溶液は正確に量れるの？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CCAA57A-8188-2105-7FBC-75F4CF54A2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ja-JP" altLang="en-US" dirty="0"/>
              <a:t>洗浄瓶を使い方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/>
              <a:t>実際に定容してみよう！</a:t>
            </a:r>
            <a:endParaRPr lang="en-US" altLang="ja-JP" dirty="0"/>
          </a:p>
          <a:p>
            <a:pPr>
              <a:buClr>
                <a:schemeClr val="tx1"/>
              </a:buClr>
            </a:pPr>
            <a:r>
              <a:rPr lang="ja-JP" altLang="en-US" dirty="0">
                <a:solidFill>
                  <a:schemeClr val="accent6"/>
                </a:solidFill>
              </a:rPr>
              <a:t>精度という視点</a:t>
            </a:r>
            <a:r>
              <a:rPr lang="ja-JP" altLang="en-US" dirty="0"/>
              <a:t>から考察</a:t>
            </a:r>
          </a:p>
        </p:txBody>
      </p:sp>
    </p:spTree>
    <p:extLst>
      <p:ext uri="{BB962C8B-B14F-4D97-AF65-F5344CB8AC3E}">
        <p14:creationId xmlns:p14="http://schemas.microsoft.com/office/powerpoint/2010/main" val="231609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045387-E6AA-1052-6A77-E078737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今回使う定容器具</a:t>
            </a:r>
          </a:p>
        </p:txBody>
      </p:sp>
      <p:pic>
        <p:nvPicPr>
          <p:cNvPr id="5" name="図 4" descr="ビーカー（溶液）">
            <a:extLst>
              <a:ext uri="{FF2B5EF4-FFF2-40B4-BE49-F238E27FC236}">
                <a16:creationId xmlns:a16="http://schemas.microsoft.com/office/drawing/2014/main" id="{D8A483DF-EE6D-2E2A-32A3-FA00A713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55" r="64212" b="25934"/>
          <a:stretch>
            <a:fillRect/>
          </a:stretch>
        </p:blipFill>
        <p:spPr>
          <a:xfrm>
            <a:off x="1126055" y="3724576"/>
            <a:ext cx="1866874" cy="2384492"/>
          </a:xfrm>
          <a:prstGeom prst="rect">
            <a:avLst/>
          </a:prstGeom>
        </p:spPr>
      </p:pic>
      <p:pic>
        <p:nvPicPr>
          <p:cNvPr id="6" name="図 5" descr="ガラス製メスシリンダー&#10;化学イラスト">
            <a:extLst>
              <a:ext uri="{FF2B5EF4-FFF2-40B4-BE49-F238E27FC236}">
                <a16:creationId xmlns:a16="http://schemas.microsoft.com/office/drawing/2014/main" id="{1FAE1E91-EC1F-5716-1328-E2E8AA7F1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834" y="2181729"/>
            <a:ext cx="2379225" cy="4163644"/>
          </a:xfrm>
          <a:prstGeom prst="rect">
            <a:avLst/>
          </a:prstGeom>
        </p:spPr>
      </p:pic>
      <p:pic>
        <p:nvPicPr>
          <p:cNvPr id="7" name="図 6" descr="調製中のメスフラスコ・無地&#10;標線オレンジ">
            <a:extLst>
              <a:ext uri="{FF2B5EF4-FFF2-40B4-BE49-F238E27FC236}">
                <a16:creationId xmlns:a16="http://schemas.microsoft.com/office/drawing/2014/main" id="{170A4D94-839D-99E4-8B37-AB1E5928F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991" y="1945423"/>
            <a:ext cx="1427187" cy="416364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7889E0-E172-8D34-D467-6D30632C7B5D}"/>
              </a:ext>
            </a:extLst>
          </p:cNvPr>
          <p:cNvSpPr txBox="1"/>
          <p:nvPr/>
        </p:nvSpPr>
        <p:spPr>
          <a:xfrm>
            <a:off x="1038309" y="62055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10 mL</a:t>
            </a:r>
            <a:r>
              <a:rPr kumimoji="1" lang="ja-JP" altLang="en-US" sz="2400" dirty="0"/>
              <a:t>容ﾋﾞｰｶｰ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83D62C-A04C-4255-9A99-F179982F5837}"/>
              </a:ext>
            </a:extLst>
          </p:cNvPr>
          <p:cNvSpPr txBox="1"/>
          <p:nvPr/>
        </p:nvSpPr>
        <p:spPr>
          <a:xfrm>
            <a:off x="4887505" y="6205593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ﾒｽｼﾘﾝﾀﾞ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921F2B-B8C0-C2D1-9B57-5B215989CC37}"/>
              </a:ext>
            </a:extLst>
          </p:cNvPr>
          <p:cNvSpPr txBox="1"/>
          <p:nvPr/>
        </p:nvSpPr>
        <p:spPr>
          <a:xfrm>
            <a:off x="8466586" y="620559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ﾒｽﾌﾗｽｺ</a:t>
            </a:r>
          </a:p>
        </p:txBody>
      </p:sp>
    </p:spTree>
    <p:extLst>
      <p:ext uri="{BB962C8B-B14F-4D97-AF65-F5344CB8AC3E}">
        <p14:creationId xmlns:p14="http://schemas.microsoft.com/office/powerpoint/2010/main" val="209122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6D293-A4D9-0451-14A2-0AB856BB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実際に定容してみよう！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572AA-0C2C-8C5D-407F-5D1A4CD366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台秤にビーカーを置き，</a:t>
            </a:r>
            <a:r>
              <a:rPr lang="en-US" altLang="ja-JP" dirty="0">
                <a:solidFill>
                  <a:schemeClr val="accent6"/>
                </a:solidFill>
              </a:rPr>
              <a:t>0</a:t>
            </a:r>
            <a:r>
              <a:rPr lang="ja-JP" altLang="en-US" dirty="0">
                <a:solidFill>
                  <a:schemeClr val="accent6"/>
                </a:solidFill>
              </a:rPr>
              <a:t>合わせ</a:t>
            </a:r>
            <a:r>
              <a:rPr lang="ja-JP" altLang="en-US" dirty="0"/>
              <a:t>をする．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ビーカーに</a:t>
            </a:r>
            <a:r>
              <a:rPr lang="en-US" altLang="ja-JP" dirty="0">
                <a:solidFill>
                  <a:schemeClr val="bg1"/>
                </a:solidFill>
              </a:rPr>
              <a:t>100</a:t>
            </a:r>
            <a:r>
              <a:rPr lang="ja-JP" altLang="en-US" dirty="0">
                <a:solidFill>
                  <a:schemeClr val="bg1"/>
                </a:solidFill>
              </a:rPr>
              <a:t> </a:t>
            </a:r>
            <a:r>
              <a:rPr lang="en-US" altLang="ja-JP" dirty="0">
                <a:solidFill>
                  <a:schemeClr val="bg1"/>
                </a:solidFill>
              </a:rPr>
              <a:t>mL</a:t>
            </a:r>
            <a:r>
              <a:rPr lang="ja-JP" altLang="en-US" dirty="0">
                <a:solidFill>
                  <a:schemeClr val="bg1"/>
                </a:solidFill>
              </a:rPr>
              <a:t>の水道水を入れる．</a:t>
            </a:r>
            <a:endParaRPr lang="en-US" altLang="ja-JP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微調整は洗浄瓶を用いる．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再度台秤に乗せ，数値を記録する．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これを班で</a:t>
            </a:r>
            <a:r>
              <a:rPr lang="en-US" altLang="ja-JP" dirty="0">
                <a:solidFill>
                  <a:schemeClr val="bg1"/>
                </a:solidFill>
              </a:rPr>
              <a:t>10</a:t>
            </a:r>
            <a:r>
              <a:rPr lang="ja-JP" altLang="en-US" dirty="0">
                <a:solidFill>
                  <a:schemeClr val="bg1"/>
                </a:solidFill>
              </a:rPr>
              <a:t>回繰り返す．</a:t>
            </a:r>
          </a:p>
          <a:p>
            <a:pPr>
              <a:buClr>
                <a:schemeClr val="bg1"/>
              </a:buClr>
            </a:pPr>
            <a:r>
              <a:rPr lang="ja-JP" altLang="en-US" dirty="0">
                <a:solidFill>
                  <a:schemeClr val="bg1"/>
                </a:solidFill>
              </a:rPr>
              <a:t>同様にメスシリンダとメスフラスコでも行う．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23131-5106-E7DB-20FC-AF7B888710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ビーカー</a:t>
            </a:r>
            <a:r>
              <a:rPr lang="en-US" altLang="ja-JP" dirty="0"/>
              <a:t>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https://www.wdb.com/kenq/illust/beaker</a:t>
            </a:r>
            <a:r>
              <a:rPr lang="ja-JP" altLang="en-US" dirty="0"/>
              <a:t>．</a:t>
            </a:r>
          </a:p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電子天秤</a:t>
            </a:r>
            <a:r>
              <a:rPr lang="en-US" altLang="ja-JP" dirty="0"/>
              <a:t>): </a:t>
            </a:r>
            <a:r>
              <a:rPr lang="en-US" altLang="ja-JP" dirty="0" err="1"/>
              <a:t>illustAC</a:t>
            </a:r>
            <a:r>
              <a:rPr lang="ja-JP" altLang="en-US" dirty="0"/>
              <a:t>，</a:t>
            </a:r>
            <a:r>
              <a:rPr lang="af-ZA" altLang="ja-JP" dirty="0">
                <a:hlinkClick r:id="rId3"/>
              </a:rPr>
              <a:t>https://www.ac-illust.com/main/detail.php?id=23172800</a:t>
            </a:r>
            <a:r>
              <a:rPr lang="ja-JP" altLang="en-US" dirty="0"/>
              <a:t>．</a:t>
            </a:r>
            <a:r>
              <a:rPr lang="en-US" altLang="ja-JP" dirty="0"/>
              <a:t> </a:t>
            </a:r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732879F-052D-CF64-E5DB-52CD64EA2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92" y="3737394"/>
            <a:ext cx="4383915" cy="3277943"/>
          </a:xfrm>
          <a:prstGeom prst="rect">
            <a:avLst/>
          </a:prstGeom>
        </p:spPr>
      </p:pic>
      <p:pic>
        <p:nvPicPr>
          <p:cNvPr id="7" name="図 6" descr="ビーカー">
            <a:extLst>
              <a:ext uri="{FF2B5EF4-FFF2-40B4-BE49-F238E27FC236}">
                <a16:creationId xmlns:a16="http://schemas.microsoft.com/office/drawing/2014/main" id="{4ABF270E-D81E-B001-A932-44E1D0212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1" t="29195" r="63840" b="26639"/>
          <a:stretch>
            <a:fillRect/>
          </a:stretch>
        </p:blipFill>
        <p:spPr>
          <a:xfrm>
            <a:off x="2257425" y="3969832"/>
            <a:ext cx="951788" cy="123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8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6732879F-052D-CF64-E5DB-52CD64EA2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92" y="3737394"/>
            <a:ext cx="4383915" cy="3277943"/>
          </a:xfrm>
          <a:prstGeom prst="rect">
            <a:avLst/>
          </a:prstGeom>
        </p:spPr>
      </p:pic>
      <p:pic>
        <p:nvPicPr>
          <p:cNvPr id="10" name="図 9" descr="ビーカー（溶液）">
            <a:extLst>
              <a:ext uri="{FF2B5EF4-FFF2-40B4-BE49-F238E27FC236}">
                <a16:creationId xmlns:a16="http://schemas.microsoft.com/office/drawing/2014/main" id="{9A0C6BAB-5440-41CC-ADA3-ECD04220D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" t="29195" r="64465" b="26640"/>
          <a:stretch>
            <a:fillRect/>
          </a:stretch>
        </p:blipFill>
        <p:spPr>
          <a:xfrm>
            <a:off x="2257425" y="3969832"/>
            <a:ext cx="951788" cy="123639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6B6D293-A4D9-0451-14A2-0AB856BB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実際に定容してみよう！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572AA-0C2C-8C5D-407F-5D1A4CD366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台秤にビーカーを置き，</a:t>
            </a:r>
            <a:r>
              <a:rPr lang="en-US" altLang="ja-JP" dirty="0">
                <a:solidFill>
                  <a:schemeClr val="accent6"/>
                </a:solidFill>
              </a:rPr>
              <a:t>0</a:t>
            </a:r>
            <a:r>
              <a:rPr lang="ja-JP" altLang="en-US" dirty="0">
                <a:solidFill>
                  <a:schemeClr val="accent6"/>
                </a:solidFill>
              </a:rPr>
              <a:t>合わせ</a:t>
            </a:r>
            <a:r>
              <a:rPr lang="ja-JP" altLang="en-US" dirty="0"/>
              <a:t>をする．</a:t>
            </a:r>
          </a:p>
          <a:p>
            <a:r>
              <a:rPr lang="ja-JP" altLang="en-US" dirty="0"/>
              <a:t>ビーカーに</a:t>
            </a:r>
            <a:r>
              <a:rPr lang="en-US" altLang="ja-JP" dirty="0">
                <a:solidFill>
                  <a:schemeClr val="accent6"/>
                </a:solidFill>
              </a:rPr>
              <a:t>100</a:t>
            </a:r>
            <a:r>
              <a:rPr lang="ja-JP" altLang="en-US" dirty="0">
                <a:solidFill>
                  <a:schemeClr val="accent6"/>
                </a:solidFill>
              </a:rPr>
              <a:t> </a:t>
            </a:r>
            <a:r>
              <a:rPr lang="en-US" altLang="ja-JP" dirty="0">
                <a:solidFill>
                  <a:schemeClr val="accent6"/>
                </a:solidFill>
              </a:rPr>
              <a:t>mL</a:t>
            </a:r>
            <a:r>
              <a:rPr lang="ja-JP" altLang="en-US" dirty="0">
                <a:solidFill>
                  <a:schemeClr val="accent6"/>
                </a:solidFill>
              </a:rPr>
              <a:t>の水道水</a:t>
            </a:r>
            <a:r>
              <a:rPr lang="ja-JP" altLang="en-US" dirty="0"/>
              <a:t>を入れる．</a:t>
            </a:r>
            <a:endParaRPr lang="en-US" altLang="ja-JP" dirty="0"/>
          </a:p>
          <a:p>
            <a:r>
              <a:rPr lang="ja-JP" altLang="en-US" dirty="0"/>
              <a:t>微調整は洗浄瓶を用いる．</a:t>
            </a:r>
          </a:p>
          <a:p>
            <a:r>
              <a:rPr lang="ja-JP" altLang="en-US" dirty="0"/>
              <a:t>再度台秤に乗せ，数値を記録する．</a:t>
            </a:r>
          </a:p>
          <a:p>
            <a:r>
              <a:rPr lang="ja-JP" altLang="en-US" dirty="0"/>
              <a:t>これを班で</a:t>
            </a:r>
            <a:r>
              <a:rPr lang="en-US" altLang="ja-JP" dirty="0"/>
              <a:t>10</a:t>
            </a:r>
            <a:r>
              <a:rPr lang="ja-JP" altLang="en-US" dirty="0"/>
              <a:t>回繰り返す．</a:t>
            </a:r>
          </a:p>
          <a:p>
            <a:r>
              <a:rPr lang="ja-JP" altLang="en-US" dirty="0"/>
              <a:t>同様にメスシリンダとメスフラスコでも行う．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23131-5106-E7DB-20FC-AF7B888710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ビーカー</a:t>
            </a:r>
            <a:r>
              <a:rPr lang="en-US" altLang="ja-JP" dirty="0"/>
              <a:t>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4"/>
              </a:rPr>
              <a:t>https://www.wdb.com/kenq/illust/beaker</a:t>
            </a:r>
            <a:r>
              <a:rPr lang="ja-JP" altLang="en-US" dirty="0"/>
              <a:t>．</a:t>
            </a:r>
          </a:p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電子天秤</a:t>
            </a:r>
            <a:r>
              <a:rPr lang="en-US" altLang="ja-JP" dirty="0"/>
              <a:t>): </a:t>
            </a:r>
            <a:r>
              <a:rPr lang="en-US" altLang="ja-JP" dirty="0" err="1"/>
              <a:t>illustAC</a:t>
            </a:r>
            <a:r>
              <a:rPr lang="ja-JP" altLang="en-US" dirty="0"/>
              <a:t>，</a:t>
            </a:r>
            <a:r>
              <a:rPr lang="af-ZA" altLang="ja-JP" dirty="0">
                <a:hlinkClick r:id="rId5"/>
              </a:rPr>
              <a:t>https://www.ac-illust.com/main/detail.php?id=23172800</a:t>
            </a:r>
            <a:r>
              <a:rPr lang="ja-JP" altLang="en-US" dirty="0"/>
              <a:t>．</a:t>
            </a:r>
            <a:r>
              <a:rPr lang="en-US" altLang="ja-JP" dirty="0"/>
              <a:t>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870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725BC-8168-1C7E-C12E-7137B1EB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洗浄ビン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7BD2EB-6BCA-62F8-A465-B8AEDA5486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ja-JP" altLang="en-US" dirty="0"/>
              <a:t>水道水には，無機塩類やカルキなどが含まれている．</a:t>
            </a:r>
            <a:endParaRPr kumimoji="1" lang="en-US" altLang="ja-JP" dirty="0"/>
          </a:p>
          <a:p>
            <a:r>
              <a:rPr kumimoji="1" lang="ja-JP" altLang="en-US" dirty="0"/>
              <a:t>そのため，溶液を作製する際は精製水</a:t>
            </a:r>
            <a:r>
              <a:rPr kumimoji="1" lang="en-US" altLang="ja-JP" dirty="0"/>
              <a:t>(RO</a:t>
            </a:r>
            <a:r>
              <a:rPr kumimoji="1" lang="ja-JP" altLang="en-US" dirty="0"/>
              <a:t>水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を用いる．</a:t>
            </a:r>
            <a:endParaRPr kumimoji="1" lang="en-US" altLang="ja-JP" dirty="0"/>
          </a:p>
          <a:p>
            <a:r>
              <a:rPr lang="ja-JP" altLang="en-US" dirty="0"/>
              <a:t>洗浄</a:t>
            </a:r>
            <a:r>
              <a:rPr kumimoji="1" lang="ja-JP" altLang="en-US" dirty="0"/>
              <a:t>ビンの</a:t>
            </a:r>
            <a:r>
              <a:rPr kumimoji="1" lang="ja-JP" altLang="en-US" dirty="0">
                <a:solidFill>
                  <a:schemeClr val="accent6"/>
                </a:solidFill>
              </a:rPr>
              <a:t>先端は器具の内壁に着かないようにする</a:t>
            </a:r>
            <a:r>
              <a:rPr kumimoji="1" lang="ja-JP" altLang="en-US" dirty="0"/>
              <a:t>こと．</a:t>
            </a:r>
            <a:endParaRPr kumimoji="1" lang="en-US" altLang="ja-JP" dirty="0"/>
          </a:p>
          <a:p>
            <a:r>
              <a:rPr kumimoji="1" lang="ja-JP" altLang="en-US" dirty="0"/>
              <a:t>精製水は急速に水質が劣化するので，</a:t>
            </a:r>
            <a:r>
              <a:rPr kumimoji="1" lang="ja-JP" altLang="en-US" dirty="0">
                <a:solidFill>
                  <a:schemeClr val="accent6"/>
                </a:solidFill>
              </a:rPr>
              <a:t>使い終わったら中身をすべて抜いてから戻す</a:t>
            </a:r>
            <a:r>
              <a:rPr kumimoji="1" lang="ja-JP" altLang="en-US" dirty="0"/>
              <a:t>．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0F9269-06AB-3B8A-82F8-C9DDE4A5C5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(</a:t>
            </a:r>
            <a:r>
              <a:rPr kumimoji="1" lang="ja-JP" altLang="en-US" dirty="0"/>
              <a:t>洗浄ビン</a:t>
            </a:r>
            <a:r>
              <a:rPr kumimoji="1" lang="en-US" altLang="ja-JP" dirty="0"/>
              <a:t>):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https://www.wdb.com/kenq/illust/wash-bottle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洗浄びん">
            <a:extLst>
              <a:ext uri="{FF2B5EF4-FFF2-40B4-BE49-F238E27FC236}">
                <a16:creationId xmlns:a16="http://schemas.microsoft.com/office/drawing/2014/main" id="{EFE2AF1D-2457-9DCA-980A-E73482E16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8" y="2260314"/>
            <a:ext cx="3796399" cy="37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6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D619-7252-F997-0587-0572C33B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07C96-186A-C2CA-4364-44976337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精度の違い </a:t>
            </a:r>
            <a:r>
              <a:rPr kumimoji="1" lang="en-US" altLang="ja-JP" dirty="0"/>
              <a:t>-</a:t>
            </a:r>
            <a:r>
              <a:rPr kumimoji="1" lang="ja-JP" altLang="en-US" dirty="0"/>
              <a:t>定容器具</a:t>
            </a:r>
            <a:r>
              <a:rPr kumimoji="1" lang="en-US" altLang="ja-JP" dirty="0"/>
              <a:t>-</a:t>
            </a:r>
            <a:endParaRPr kumimoji="1" lang="ja-JP" altLang="en-US" dirty="0"/>
          </a:p>
        </p:txBody>
      </p:sp>
      <p:pic>
        <p:nvPicPr>
          <p:cNvPr id="5" name="図 4" descr="ビーカー（溶液）">
            <a:extLst>
              <a:ext uri="{FF2B5EF4-FFF2-40B4-BE49-F238E27FC236}">
                <a16:creationId xmlns:a16="http://schemas.microsoft.com/office/drawing/2014/main" id="{DC7DACFE-A44A-037A-E718-A0BCE92F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55" r="64212" b="25934"/>
          <a:stretch>
            <a:fillRect/>
          </a:stretch>
        </p:blipFill>
        <p:spPr>
          <a:xfrm>
            <a:off x="797287" y="4043070"/>
            <a:ext cx="1866874" cy="2384492"/>
          </a:xfrm>
          <a:prstGeom prst="rect">
            <a:avLst/>
          </a:prstGeom>
        </p:spPr>
      </p:pic>
      <p:pic>
        <p:nvPicPr>
          <p:cNvPr id="6" name="図 5" descr="ガラス製メスシリンダー&#10;化学イラスト">
            <a:extLst>
              <a:ext uri="{FF2B5EF4-FFF2-40B4-BE49-F238E27FC236}">
                <a16:creationId xmlns:a16="http://schemas.microsoft.com/office/drawing/2014/main" id="{BE755732-C047-E33D-F888-A09D1ABF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922" y="2500223"/>
            <a:ext cx="2379225" cy="4163644"/>
          </a:xfrm>
          <a:prstGeom prst="rect">
            <a:avLst/>
          </a:prstGeom>
        </p:spPr>
      </p:pic>
      <p:pic>
        <p:nvPicPr>
          <p:cNvPr id="7" name="図 6" descr="調製中のメスフラスコ・無地&#10;標線オレンジ">
            <a:extLst>
              <a:ext uri="{FF2B5EF4-FFF2-40B4-BE49-F238E27FC236}">
                <a16:creationId xmlns:a16="http://schemas.microsoft.com/office/drawing/2014/main" id="{53446C23-A034-6400-3924-CC6DFB3F9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991" y="2263917"/>
            <a:ext cx="1427187" cy="416364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4B463A7-05AD-2BE5-5FE4-133F40DD57AA}"/>
              </a:ext>
            </a:extLst>
          </p:cNvPr>
          <p:cNvSpPr txBox="1"/>
          <p:nvPr/>
        </p:nvSpPr>
        <p:spPr>
          <a:xfrm>
            <a:off x="709541" y="652408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10 mL</a:t>
            </a:r>
            <a:r>
              <a:rPr kumimoji="1" lang="ja-JP" altLang="en-US" sz="2400" dirty="0"/>
              <a:t>容ﾋﾞｰｶｰ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443E89-21DD-808D-CBBC-B3E47F193293}"/>
              </a:ext>
            </a:extLst>
          </p:cNvPr>
          <p:cNvSpPr txBox="1"/>
          <p:nvPr/>
        </p:nvSpPr>
        <p:spPr>
          <a:xfrm>
            <a:off x="6202593" y="6524087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ﾒｽｼﾘﾝﾀﾞ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CF5633-A39A-1821-8266-D08132FC3A25}"/>
              </a:ext>
            </a:extLst>
          </p:cNvPr>
          <p:cNvSpPr txBox="1"/>
          <p:nvPr/>
        </p:nvSpPr>
        <p:spPr>
          <a:xfrm>
            <a:off x="8466586" y="652408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ﾒｽﾌﾗｽｺ</a:t>
            </a:r>
          </a:p>
        </p:txBody>
      </p:sp>
      <p:sp>
        <p:nvSpPr>
          <p:cNvPr id="3" name="矢印: 左右 2">
            <a:extLst>
              <a:ext uri="{FF2B5EF4-FFF2-40B4-BE49-F238E27FC236}">
                <a16:creationId xmlns:a16="http://schemas.microsoft.com/office/drawing/2014/main" id="{9C467CFE-100F-1885-874C-E1F057D9FF57}"/>
              </a:ext>
            </a:extLst>
          </p:cNvPr>
          <p:cNvSpPr/>
          <p:nvPr/>
        </p:nvSpPr>
        <p:spPr>
          <a:xfrm>
            <a:off x="554805" y="1521880"/>
            <a:ext cx="9651932" cy="749988"/>
          </a:xfrm>
          <a:prstGeom prst="leftRightArrow">
            <a:avLst/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0800000" scaled="1"/>
            <a:tileRect/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低</a:t>
            </a:r>
            <a:r>
              <a:rPr kumimoji="1" lang="en-US" altLang="ja-JP" sz="2800" dirty="0"/>
              <a:t>									</a:t>
            </a:r>
            <a:r>
              <a:rPr kumimoji="1" lang="ja-JP" altLang="en-US" sz="2800" dirty="0"/>
              <a:t>精度</a:t>
            </a:r>
            <a:r>
              <a:rPr kumimoji="1" lang="en-US" altLang="ja-JP" sz="2800" dirty="0"/>
              <a:t>									</a:t>
            </a:r>
            <a:r>
              <a:rPr kumimoji="1" lang="ja-JP" altLang="en-US" sz="2800" dirty="0"/>
              <a:t>高</a:t>
            </a:r>
          </a:p>
        </p:txBody>
      </p:sp>
    </p:spTree>
    <p:extLst>
      <p:ext uri="{BB962C8B-B14F-4D97-AF65-F5344CB8AC3E}">
        <p14:creationId xmlns:p14="http://schemas.microsoft.com/office/powerpoint/2010/main" val="50713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68352E61-1FE1-51BF-9D12-053D5A29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統計学の勧め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61FCF2-7AA3-5022-EE2C-2A221BA68C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ja-JP" altLang="en-US" sz="3200" dirty="0"/>
              <a:t>今実験では，定容器具の精度について議論をしてきた．</a:t>
            </a:r>
            <a:endParaRPr lang="en-US" altLang="ja-JP" sz="3200" dirty="0"/>
          </a:p>
          <a:p>
            <a:pPr>
              <a:lnSpc>
                <a:spcPct val="100000"/>
              </a:lnSpc>
            </a:pPr>
            <a:r>
              <a:rPr lang="ja-JP" altLang="en-US" sz="3200" dirty="0"/>
              <a:t>精度から</a:t>
            </a:r>
            <a:r>
              <a:rPr lang="ja-JP" altLang="en-US" sz="3200" dirty="0">
                <a:solidFill>
                  <a:schemeClr val="accent6"/>
                </a:solidFill>
              </a:rPr>
              <a:t>多少の誤差</a:t>
            </a:r>
            <a:r>
              <a:rPr lang="ja-JP" altLang="en-US" sz="3200" dirty="0"/>
              <a:t>が生じる．</a:t>
            </a:r>
            <a:endParaRPr lang="en-US" altLang="ja-JP" sz="3200" dirty="0"/>
          </a:p>
          <a:p>
            <a:pPr>
              <a:lnSpc>
                <a:spcPct val="100000"/>
              </a:lnSpc>
            </a:pPr>
            <a:r>
              <a:rPr lang="ja-JP" altLang="en-US" sz="3200" dirty="0"/>
              <a:t>そのため，この誤差の範囲が</a:t>
            </a:r>
            <a:r>
              <a:rPr lang="ja-JP" altLang="en-US" sz="3200" dirty="0">
                <a:solidFill>
                  <a:schemeClr val="accent6"/>
                </a:solidFill>
              </a:rPr>
              <a:t>統計的に有意</a:t>
            </a:r>
            <a:r>
              <a:rPr lang="ja-JP" altLang="en-US" sz="3200" dirty="0"/>
              <a:t>なのか調べる必要がある．</a:t>
            </a:r>
            <a:endParaRPr lang="en-US" altLang="ja-JP" sz="3200" dirty="0"/>
          </a:p>
          <a:p>
            <a:pPr>
              <a:lnSpc>
                <a:spcPct val="100000"/>
              </a:lnSpc>
            </a:pPr>
            <a:r>
              <a:rPr lang="ja-JP" altLang="en-US" sz="3200" dirty="0"/>
              <a:t>有意があると証明されて初めて，</a:t>
            </a:r>
            <a:r>
              <a:rPr lang="ja-JP" altLang="en-US" sz="3200" dirty="0">
                <a:solidFill>
                  <a:schemeClr val="accent6"/>
                </a:solidFill>
              </a:rPr>
              <a:t>そのデータは意味を持つ</a:t>
            </a:r>
            <a:r>
              <a:rPr lang="ja-JP" altLang="en-US" sz="3200" dirty="0"/>
              <a:t>．</a:t>
            </a:r>
            <a:endParaRPr lang="en-US" altLang="ja-JP" sz="3200" dirty="0"/>
          </a:p>
          <a:p>
            <a:pPr>
              <a:lnSpc>
                <a:spcPct val="100000"/>
              </a:lnSpc>
            </a:pPr>
            <a:r>
              <a:rPr lang="ja-JP" altLang="en-US" sz="3200" dirty="0"/>
              <a:t>後期にも統計学入門や推計学入門が開講されるので，履修をしてみるものよいだろう．</a:t>
            </a:r>
          </a:p>
        </p:txBody>
      </p:sp>
    </p:spTree>
    <p:extLst>
      <p:ext uri="{BB962C8B-B14F-4D97-AF65-F5344CB8AC3E}">
        <p14:creationId xmlns:p14="http://schemas.microsoft.com/office/powerpoint/2010/main" val="3384980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6A86AF-3F59-BF6C-DD0A-01DA0D97D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器具の洗浄の仕方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0792812-6841-D45E-D2BD-E178316680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/>
              <a:t>05</a:t>
            </a:r>
            <a:endParaRPr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B37AFF5-AD39-7F21-6CB5-067221F9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片付け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4D4B717-18AC-3807-5A38-2BB3F2671CB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ja-JP" altLang="en-US" dirty="0"/>
              <a:t>器具の洗浄</a:t>
            </a:r>
          </a:p>
        </p:txBody>
      </p:sp>
    </p:spTree>
    <p:extLst>
      <p:ext uri="{BB962C8B-B14F-4D97-AF65-F5344CB8AC3E}">
        <p14:creationId xmlns:p14="http://schemas.microsoft.com/office/powerpoint/2010/main" val="3153210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4FA1C-57F3-EF45-743E-AE6F322B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定容器具の洗浄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EA0EB6-E83B-D686-5044-C6581501BD7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ja-JP" altLang="en-US" dirty="0"/>
              <a:t>水道水で軽く流し，洗剤を流し込む．</a:t>
            </a:r>
            <a:endParaRPr kumimoji="1" lang="en-US" altLang="ja-JP" dirty="0"/>
          </a:p>
          <a:p>
            <a:r>
              <a:rPr kumimoji="1" lang="ja-JP" altLang="en-US" dirty="0"/>
              <a:t>ピペットの場合</a:t>
            </a:r>
            <a:r>
              <a:rPr kumimoji="1" lang="en-US" altLang="ja-JP" dirty="0"/>
              <a:t>:</a:t>
            </a:r>
          </a:p>
          <a:p>
            <a:pPr marL="1079500" lvl="1" indent="-360363"/>
            <a:r>
              <a:rPr kumimoji="1" lang="ja-JP" altLang="en-US" dirty="0"/>
              <a:t>水道水を流し続ける．</a:t>
            </a:r>
            <a:endParaRPr kumimoji="1" lang="en-US" altLang="ja-JP" dirty="0"/>
          </a:p>
          <a:p>
            <a:r>
              <a:rPr lang="ja-JP" altLang="en-US" dirty="0"/>
              <a:t>ﾌﾗｽｺ･ｼﾘﾝﾀﾞの場合</a:t>
            </a:r>
            <a:r>
              <a:rPr lang="en-US" altLang="ja-JP" dirty="0"/>
              <a:t>:</a:t>
            </a:r>
          </a:p>
          <a:p>
            <a:pPr marL="1079500" lvl="1" indent="-360363"/>
            <a:r>
              <a:rPr lang="ja-JP" altLang="en-US" dirty="0"/>
              <a:t>容器全体を振って泡立たせる．</a:t>
            </a:r>
            <a:endParaRPr lang="en-US" altLang="ja-JP" dirty="0"/>
          </a:p>
          <a:p>
            <a:r>
              <a:rPr lang="ja-JP" altLang="en-US" dirty="0"/>
              <a:t>内壁全体に泡がついたか確認する．</a:t>
            </a:r>
            <a:endParaRPr lang="en-US" altLang="ja-JP" dirty="0"/>
          </a:p>
          <a:p>
            <a:r>
              <a:rPr lang="en-US" altLang="ja-JP" dirty="0"/>
              <a:t>10</a:t>
            </a:r>
            <a:r>
              <a:rPr lang="ja-JP" altLang="en-US" dirty="0"/>
              <a:t>回以上水道水ですすぐ．</a:t>
            </a:r>
            <a:endParaRPr lang="en-US" altLang="ja-JP" dirty="0"/>
          </a:p>
          <a:p>
            <a:r>
              <a:rPr lang="ja-JP" altLang="en-US" dirty="0"/>
              <a:t>最後に</a:t>
            </a:r>
            <a:r>
              <a:rPr lang="ja-JP" altLang="en-US" dirty="0">
                <a:solidFill>
                  <a:schemeClr val="accent6"/>
                </a:solidFill>
              </a:rPr>
              <a:t>精製水を</a:t>
            </a:r>
            <a:r>
              <a:rPr lang="en-US" altLang="ja-JP" dirty="0">
                <a:solidFill>
                  <a:schemeClr val="accent6"/>
                </a:solidFill>
              </a:rPr>
              <a:t>3</a:t>
            </a:r>
            <a:r>
              <a:rPr lang="ja-JP" altLang="en-US" dirty="0">
                <a:solidFill>
                  <a:schemeClr val="accent6"/>
                </a:solidFill>
              </a:rPr>
              <a:t>回ほどかけて</a:t>
            </a:r>
            <a:r>
              <a:rPr lang="ja-JP" altLang="en-US" dirty="0"/>
              <a:t>乾燥させる．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8E4233-05D0-223D-758A-09E5B7756F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メスフラスコ</a:t>
            </a:r>
            <a:r>
              <a:rPr lang="en-US" altLang="ja-JP" dirty="0"/>
              <a:t>): </a:t>
            </a:r>
            <a:r>
              <a:rPr lang="ja-JP" altLang="en-US" dirty="0"/>
              <a:t>かがくイラスト，</a:t>
            </a:r>
            <a:r>
              <a:rPr lang="en-US" altLang="ja-JP" dirty="0">
                <a:hlinkClick r:id="rId2"/>
              </a:rPr>
              <a:t>https://science-illust.com/volumetric_flask</a:t>
            </a:r>
            <a:r>
              <a:rPr lang="ja-JP" altLang="en-US" dirty="0"/>
              <a:t>．</a:t>
            </a:r>
          </a:p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メスピペット</a:t>
            </a:r>
            <a:r>
              <a:rPr lang="en-US" altLang="ja-JP" dirty="0"/>
              <a:t>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3"/>
              </a:rPr>
              <a:t>https://www.wdb.com/kenq/illust/measuring-pipette</a:t>
            </a:r>
            <a:r>
              <a:rPr lang="ja-JP" altLang="en-US" dirty="0"/>
              <a:t>．</a:t>
            </a:r>
          </a:p>
        </p:txBody>
      </p:sp>
      <p:pic>
        <p:nvPicPr>
          <p:cNvPr id="6" name="図 5" descr="メスピペット">
            <a:extLst>
              <a:ext uri="{FF2B5EF4-FFF2-40B4-BE49-F238E27FC236}">
                <a16:creationId xmlns:a16="http://schemas.microsoft.com/office/drawing/2014/main" id="{1C0780BD-E6FE-2954-5A35-4B7A578600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473" r="42903"/>
          <a:stretch>
            <a:fillRect/>
          </a:stretch>
        </p:blipFill>
        <p:spPr>
          <a:xfrm>
            <a:off x="3132402" y="1592636"/>
            <a:ext cx="751229" cy="5137089"/>
          </a:xfrm>
          <a:prstGeom prst="rect">
            <a:avLst/>
          </a:prstGeom>
        </p:spPr>
      </p:pic>
      <p:pic>
        <p:nvPicPr>
          <p:cNvPr id="7" name="図 6" descr="調製中のメスフラスコ・無地&#10;標線オレンジ">
            <a:extLst>
              <a:ext uri="{FF2B5EF4-FFF2-40B4-BE49-F238E27FC236}">
                <a16:creationId xmlns:a16="http://schemas.microsoft.com/office/drawing/2014/main" id="{C45C93AF-446C-CE4B-A3D5-294B3C9AB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914" y="2129680"/>
            <a:ext cx="1520426" cy="443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38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1E5B9-E678-185F-E517-9A13D86DF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5400" dirty="0">
                <a:ln>
                  <a:solidFill>
                    <a:srgbClr val="FFFF00"/>
                  </a:solidFill>
                </a:ln>
                <a:solidFill>
                  <a:schemeClr val="accent6"/>
                </a:solidFill>
              </a:rPr>
              <a:t>注意事項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EF47F9-A06A-6EBE-26DB-9A01922713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5906" y="0"/>
            <a:ext cx="5320039" cy="7219277"/>
          </a:xfrm>
        </p:spPr>
        <p:txBody>
          <a:bodyPr>
            <a:normAutofit fontScale="92500"/>
          </a:bodyPr>
          <a:lstStyle/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ja-JP" altLang="en-US" dirty="0"/>
              <a:t>量ることを目的としている器具は，</a:t>
            </a:r>
            <a:r>
              <a:rPr kumimoji="1" lang="ja-JP" altLang="en-US" dirty="0">
                <a:solidFill>
                  <a:schemeClr val="accent6"/>
                </a:solidFill>
              </a:rPr>
              <a:t>決してブラシで内壁を洗ってはいけません</a:t>
            </a:r>
            <a:r>
              <a:rPr kumimoji="1" lang="ja-JP" altLang="en-US" dirty="0"/>
              <a:t>．</a:t>
            </a:r>
            <a:endParaRPr kumimoji="1" lang="en-US" altLang="ja-JP" dirty="0"/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 dirty="0"/>
              <a:t>また，</a:t>
            </a:r>
            <a:r>
              <a:rPr lang="ja-JP" altLang="en-US" dirty="0">
                <a:solidFill>
                  <a:schemeClr val="accent6"/>
                </a:solidFill>
              </a:rPr>
              <a:t>乾燥機や温水も不可</a:t>
            </a:r>
            <a:r>
              <a:rPr lang="ja-JP" altLang="en-US" dirty="0"/>
              <a:t>です．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D337C1-E9D9-1DEC-34C2-D54FEED9998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ja-JP" altLang="en-US" dirty="0"/>
              <a:t>引用</a:t>
            </a:r>
            <a:r>
              <a:rPr kumimoji="1" lang="en-US" altLang="ja-JP" dirty="0"/>
              <a:t>: </a:t>
            </a:r>
            <a:r>
              <a:rPr kumimoji="1"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https://www.wdb.com/kenq/illust/test-tube-brush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pic>
        <p:nvPicPr>
          <p:cNvPr id="5" name="図 4" descr="試験管ブラシ">
            <a:extLst>
              <a:ext uri="{FF2B5EF4-FFF2-40B4-BE49-F238E27FC236}">
                <a16:creationId xmlns:a16="http://schemas.microsoft.com/office/drawing/2014/main" id="{BA694B61-E78F-0AB0-87F4-553D01E40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247432">
            <a:off x="1151497" y="2117089"/>
            <a:ext cx="3508003" cy="3508003"/>
          </a:xfrm>
          <a:prstGeom prst="rect">
            <a:avLst/>
          </a:prstGeom>
        </p:spPr>
      </p:pic>
      <p:sp>
        <p:nvSpPr>
          <p:cNvPr id="6" name="乗算記号 5">
            <a:extLst>
              <a:ext uri="{FF2B5EF4-FFF2-40B4-BE49-F238E27FC236}">
                <a16:creationId xmlns:a16="http://schemas.microsoft.com/office/drawing/2014/main" id="{FFEA1CD1-CC4D-D5A0-DC7C-ED913A6EE9E9}"/>
              </a:ext>
            </a:extLst>
          </p:cNvPr>
          <p:cNvSpPr/>
          <p:nvPr/>
        </p:nvSpPr>
        <p:spPr>
          <a:xfrm>
            <a:off x="162298" y="1263100"/>
            <a:ext cx="5486400" cy="5486400"/>
          </a:xfrm>
          <a:prstGeom prst="mathMultiply">
            <a:avLst>
              <a:gd name="adj1" fmla="val 12497"/>
            </a:avLst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945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100E2-7745-1F4E-6F8A-A4F29932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そのほかの器具の洗浄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E8C7C4-2CC0-F6C3-2C93-6F05595CB2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水道水で軽く流す．</a:t>
            </a:r>
            <a:endParaRPr kumimoji="1" lang="en-US" altLang="ja-JP" sz="3200" dirty="0"/>
          </a:p>
          <a:p>
            <a:r>
              <a:rPr kumimoji="1" lang="ja-JP" altLang="en-US" sz="3200" dirty="0"/>
              <a:t>スポンジやブラシに洗剤をかける．</a:t>
            </a:r>
            <a:endParaRPr kumimoji="1" lang="en-US" altLang="ja-JP" sz="3200" dirty="0"/>
          </a:p>
          <a:p>
            <a:r>
              <a:rPr lang="ja-JP" altLang="en-US" sz="3200" dirty="0">
                <a:solidFill>
                  <a:schemeClr val="accent6"/>
                </a:solidFill>
              </a:rPr>
              <a:t>外壁から内壁へ擦って洗い</a:t>
            </a:r>
            <a:r>
              <a:rPr lang="ja-JP" altLang="en-US" sz="3200" dirty="0"/>
              <a:t>，洗剤を流す．</a:t>
            </a:r>
            <a:endParaRPr lang="en-US" altLang="ja-JP" sz="3200" dirty="0"/>
          </a:p>
          <a:p>
            <a:r>
              <a:rPr lang="en-US" altLang="ja-JP" sz="3200" dirty="0"/>
              <a:t>10</a:t>
            </a:r>
            <a:r>
              <a:rPr lang="ja-JP" altLang="en-US" sz="3200" dirty="0"/>
              <a:t>回以上水道水ですすぐ．</a:t>
            </a:r>
            <a:endParaRPr lang="en-US" altLang="ja-JP" sz="3200" dirty="0"/>
          </a:p>
          <a:p>
            <a:r>
              <a:rPr lang="ja-JP" altLang="en-US" sz="3200" dirty="0"/>
              <a:t>最後に</a:t>
            </a:r>
            <a:r>
              <a:rPr lang="ja-JP" altLang="en-US" sz="3200" dirty="0">
                <a:solidFill>
                  <a:schemeClr val="accent6"/>
                </a:solidFill>
              </a:rPr>
              <a:t>精製水を</a:t>
            </a:r>
            <a:r>
              <a:rPr lang="en-US" altLang="ja-JP" sz="3200" dirty="0">
                <a:solidFill>
                  <a:schemeClr val="accent6"/>
                </a:solidFill>
              </a:rPr>
              <a:t>3</a:t>
            </a:r>
            <a:r>
              <a:rPr lang="ja-JP" altLang="en-US" sz="3200" dirty="0">
                <a:solidFill>
                  <a:schemeClr val="accent6"/>
                </a:solidFill>
              </a:rPr>
              <a:t>回ほどかけて</a:t>
            </a:r>
            <a:r>
              <a:rPr lang="ja-JP" altLang="en-US" sz="3200" dirty="0"/>
              <a:t>乾燥させる．</a:t>
            </a:r>
            <a:endParaRPr lang="en-US" altLang="ja-JP" sz="32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75FCFA-BBB6-CC65-8498-E9693A5D37F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ja-JP" altLang="en-US" dirty="0"/>
              <a:t>引用</a:t>
            </a:r>
            <a:r>
              <a:rPr lang="en-US" altLang="ja-JP" dirty="0"/>
              <a:t>(</a:t>
            </a:r>
            <a:r>
              <a:rPr lang="ja-JP" altLang="en-US" dirty="0"/>
              <a:t>ビーカー</a:t>
            </a:r>
            <a:r>
              <a:rPr lang="en-US" altLang="ja-JP" dirty="0"/>
              <a:t>): </a:t>
            </a:r>
            <a:r>
              <a:rPr lang="ja-JP" altLang="en-US" dirty="0"/>
              <a:t>研究ネット，</a:t>
            </a:r>
            <a:r>
              <a:rPr lang="en-US" altLang="ja-JP" dirty="0">
                <a:hlinkClick r:id="rId2"/>
              </a:rPr>
              <a:t>https://www.wdb.com/kenq/illust/beaker</a:t>
            </a:r>
            <a:r>
              <a:rPr lang="ja-JP" altLang="en-US" dirty="0"/>
              <a:t>．</a:t>
            </a:r>
          </a:p>
        </p:txBody>
      </p:sp>
      <p:pic>
        <p:nvPicPr>
          <p:cNvPr id="5" name="図 4" descr="ビーカー">
            <a:extLst>
              <a:ext uri="{FF2B5EF4-FFF2-40B4-BE49-F238E27FC236}">
                <a16:creationId xmlns:a16="http://schemas.microsoft.com/office/drawing/2014/main" id="{CB48A6E1-8A11-C666-50AE-613F8633D0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1" t="29195" r="63840" b="26639"/>
          <a:stretch>
            <a:fillRect/>
          </a:stretch>
        </p:blipFill>
        <p:spPr>
          <a:xfrm>
            <a:off x="1548508" y="2797978"/>
            <a:ext cx="2098818" cy="272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20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7542C-6689-F1C1-5F99-08418A6E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なぜ最後に精製水をかけるのか？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374099-6847-D690-52E1-9A51467DFC7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水道水には，</a:t>
            </a:r>
            <a:r>
              <a:rPr lang="ja-JP" altLang="en-US" sz="3200" dirty="0">
                <a:solidFill>
                  <a:schemeClr val="accent6"/>
                </a:solidFill>
              </a:rPr>
              <a:t>無機塩類やカルキなどが含まれている</a:t>
            </a:r>
            <a:r>
              <a:rPr lang="ja-JP" altLang="en-US" sz="3200" dirty="0"/>
              <a:t>．</a:t>
            </a:r>
            <a:endParaRPr lang="en-US" altLang="ja-JP" sz="3200" dirty="0"/>
          </a:p>
          <a:p>
            <a:r>
              <a:rPr kumimoji="1" lang="ja-JP" altLang="en-US" sz="3200" dirty="0"/>
              <a:t>精製水をかけないと，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カルキなどが析出</a:t>
            </a:r>
            <a:r>
              <a:rPr kumimoji="1" lang="ja-JP" altLang="en-US" sz="3200" dirty="0"/>
              <a:t>してしまう．</a:t>
            </a:r>
            <a:endParaRPr kumimoji="1" lang="en-US" altLang="ja-JP" sz="3200" dirty="0"/>
          </a:p>
          <a:p>
            <a:r>
              <a:rPr lang="ja-JP" altLang="en-US" sz="3200" dirty="0"/>
              <a:t>次に使う際に</a:t>
            </a:r>
            <a:r>
              <a:rPr lang="ja-JP" altLang="en-US" sz="3200" dirty="0">
                <a:solidFill>
                  <a:schemeClr val="accent6"/>
                </a:solidFill>
              </a:rPr>
              <a:t>カルキが溶液に溶出</a:t>
            </a:r>
            <a:r>
              <a:rPr lang="ja-JP" altLang="en-US" sz="3200" dirty="0"/>
              <a:t>してしまい，</a:t>
            </a:r>
            <a:r>
              <a:rPr lang="ja-JP" altLang="en-US" sz="3200" dirty="0">
                <a:solidFill>
                  <a:schemeClr val="accent6"/>
                </a:solidFill>
              </a:rPr>
              <a:t>実験の失敗につながる</a:t>
            </a:r>
            <a:r>
              <a:rPr lang="ja-JP" altLang="en-US" sz="3200" dirty="0"/>
              <a:t>．</a:t>
            </a:r>
            <a:endParaRPr kumimoji="1" lang="ja-JP" altLang="en-US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EAAECDD-6BD6-505D-7045-CF80F15DB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7" t="6115" r="17841" b="15602"/>
          <a:stretch>
            <a:fillRect/>
          </a:stretch>
        </p:blipFill>
        <p:spPr>
          <a:xfrm>
            <a:off x="485347" y="1847850"/>
            <a:ext cx="2656094" cy="475127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E81321B-2972-1C29-C9DD-399D6FEB0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3" t="68324" r="40457" b="17865"/>
          <a:stretch>
            <a:fillRect/>
          </a:stretch>
        </p:blipFill>
        <p:spPr>
          <a:xfrm>
            <a:off x="2171699" y="2088834"/>
            <a:ext cx="3078205" cy="2103120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1B7DC67-F166-DECA-BCA3-629975B499FB}"/>
              </a:ext>
            </a:extLst>
          </p:cNvPr>
          <p:cNvSpPr/>
          <p:nvPr/>
        </p:nvSpPr>
        <p:spPr>
          <a:xfrm>
            <a:off x="952500" y="5711825"/>
            <a:ext cx="1082040" cy="643255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2C63D70-1950-0EAA-96FC-595CA51B3507}"/>
              </a:ext>
            </a:extLst>
          </p:cNvPr>
          <p:cNvCxnSpPr>
            <a:cxnSpLocks/>
          </p:cNvCxnSpPr>
          <p:nvPr/>
        </p:nvCxnSpPr>
        <p:spPr>
          <a:xfrm flipH="1">
            <a:off x="952500" y="2066925"/>
            <a:ext cx="1196975" cy="3644900"/>
          </a:xfrm>
          <a:prstGeom prst="line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EFA9C0B-FC16-DBFE-37FD-98B5911C7939}"/>
              </a:ext>
            </a:extLst>
          </p:cNvPr>
          <p:cNvCxnSpPr>
            <a:cxnSpLocks/>
          </p:cNvCxnSpPr>
          <p:nvPr/>
        </p:nvCxnSpPr>
        <p:spPr>
          <a:xfrm flipH="1">
            <a:off x="2034540" y="4191954"/>
            <a:ext cx="3235166" cy="2163126"/>
          </a:xfrm>
          <a:prstGeom prst="line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874AFB2-B1D3-3DFE-7B18-080E149861EC}"/>
              </a:ext>
            </a:extLst>
          </p:cNvPr>
          <p:cNvCxnSpPr>
            <a:cxnSpLocks/>
          </p:cNvCxnSpPr>
          <p:nvPr/>
        </p:nvCxnSpPr>
        <p:spPr>
          <a:xfrm flipH="1">
            <a:off x="3077941" y="2428421"/>
            <a:ext cx="687609" cy="474649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929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CEC387-8455-F686-25C4-DDBD0B6E4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今後の活動について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F6390D-D9D2-CF3F-7F5B-A1C73FFA08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/>
              <a:t>06</a:t>
            </a:r>
            <a:endParaRPr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CF9B0D9-022B-F8CD-75A8-427C4621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最後に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82F7F4-003B-A9C7-648B-9A429D5EBBB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ja-JP" altLang="en-US"/>
              <a:t>バイオサイエンス学術研究会への入会</a:t>
            </a:r>
            <a:endParaRPr lang="en-US" altLang="ja-JP"/>
          </a:p>
          <a:p>
            <a:r>
              <a:rPr lang="en-US" altLang="ja-JP"/>
              <a:t>Classroom</a:t>
            </a:r>
            <a:r>
              <a:rPr lang="ja-JP" altLang="en-US"/>
              <a:t>への招待</a:t>
            </a:r>
          </a:p>
        </p:txBody>
      </p:sp>
    </p:spTree>
    <p:extLst>
      <p:ext uri="{BB962C8B-B14F-4D97-AF65-F5344CB8AC3E}">
        <p14:creationId xmlns:p14="http://schemas.microsoft.com/office/powerpoint/2010/main" val="1524256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F815B8-4BA4-8FD6-B8CC-EFCF70AE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16" y="1630328"/>
            <a:ext cx="4819668" cy="4819668"/>
          </a:xfrm>
          <a:prstGeom prst="rect">
            <a:avLst/>
          </a:prstGeom>
        </p:spPr>
      </p:pic>
      <p:sp>
        <p:nvSpPr>
          <p:cNvPr id="4725" name="Google Shape;4725;p24"/>
          <p:cNvSpPr txBox="1"/>
          <p:nvPr/>
        </p:nvSpPr>
        <p:spPr>
          <a:xfrm>
            <a:off x="-1" y="4344106"/>
            <a:ext cx="4961517" cy="1585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901" tIns="53435" rIns="106901" bIns="53435" anchor="t" anchorCtr="0">
            <a:spAutoFit/>
          </a:bodyPr>
          <a:lstStyle/>
          <a:p>
            <a:pPr defTabSz="534566">
              <a:lnSpc>
                <a:spcPct val="150000"/>
              </a:lnSpc>
            </a:pPr>
            <a:r>
              <a:rPr lang="en-US" altLang="ja-JP" sz="3200" b="1" dirty="0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QR</a:t>
            </a:r>
            <a:r>
              <a:rPr lang="ja-JP" altLang="en-US" sz="3200" b="1" dirty="0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コードを読み込み，</a:t>
            </a:r>
            <a:endParaRPr sz="3200" b="1" dirty="0">
              <a:solidFill>
                <a:srgbClr val="041F36"/>
              </a:solidFill>
              <a:latin typeface="MS gothic" panose="020B0609070205080204" pitchFamily="49" charset="-128"/>
              <a:ea typeface="MS gothic" panose="020B0609070205080204" pitchFamily="49" charset="-128"/>
              <a:cs typeface="Meiryo"/>
              <a:sym typeface="Meiryo"/>
            </a:endParaRPr>
          </a:p>
          <a:p>
            <a:pPr defTabSz="534566">
              <a:lnSpc>
                <a:spcPct val="150000"/>
              </a:lnSpc>
            </a:pPr>
            <a:r>
              <a:rPr lang="en-US" altLang="ja-JP" sz="3200" b="1" dirty="0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Form</a:t>
            </a:r>
            <a:r>
              <a:rPr lang="ja-JP" altLang="en-US" sz="3200" b="1" dirty="0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に回答してください．</a:t>
            </a:r>
          </a:p>
        </p:txBody>
      </p:sp>
      <p:grpSp>
        <p:nvGrpSpPr>
          <p:cNvPr id="4" name="グラフィックス 203">
            <a:extLst>
              <a:ext uri="{FF2B5EF4-FFF2-40B4-BE49-F238E27FC236}">
                <a16:creationId xmlns:a16="http://schemas.microsoft.com/office/drawing/2014/main" id="{41857DF6-4F8D-FCC0-494D-C3AA933A154E}"/>
              </a:ext>
            </a:extLst>
          </p:cNvPr>
          <p:cNvGrpSpPr/>
          <p:nvPr/>
        </p:nvGrpSpPr>
        <p:grpSpPr>
          <a:xfrm rot="1050639">
            <a:off x="958677" y="1714879"/>
            <a:ext cx="707164" cy="942332"/>
            <a:chOff x="3070288" y="2226535"/>
            <a:chExt cx="540677" cy="720480"/>
          </a:xfrm>
          <a:solidFill>
            <a:srgbClr val="363D44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440D21D1-E7AA-1406-67A6-007F1D0C2275}"/>
                </a:ext>
              </a:extLst>
            </p:cNvPr>
            <p:cNvSpPr/>
            <p:nvPr/>
          </p:nvSpPr>
          <p:spPr>
            <a:xfrm>
              <a:off x="3070288" y="2545899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34566"/>
              <a:endParaRPr lang="ja-JP" altLang="en-US" sz="1052" b="1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97586FF-82B5-8DEE-01C9-E2B0D95CD612}"/>
                </a:ext>
              </a:extLst>
            </p:cNvPr>
            <p:cNvSpPr/>
            <p:nvPr/>
          </p:nvSpPr>
          <p:spPr>
            <a:xfrm>
              <a:off x="3263588" y="2226535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34566"/>
              <a:endParaRPr lang="ja-JP" altLang="en-US" sz="1052" b="1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</a:endParaRPr>
            </a:p>
          </p:txBody>
        </p:sp>
      </p:grp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FA194F9D-B999-C6A8-4773-6FD1430E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入会について</a:t>
            </a:r>
          </a:p>
        </p:txBody>
      </p:sp>
    </p:spTree>
    <p:extLst>
      <p:ext uri="{BB962C8B-B14F-4D97-AF65-F5344CB8AC3E}">
        <p14:creationId xmlns:p14="http://schemas.microsoft.com/office/powerpoint/2010/main" val="192797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521F014-2335-AC31-9BE3-386D69DCF9EE}"/>
              </a:ext>
            </a:extLst>
          </p:cNvPr>
          <p:cNvSpPr/>
          <p:nvPr/>
        </p:nvSpPr>
        <p:spPr>
          <a:xfrm>
            <a:off x="4961516" y="1630328"/>
            <a:ext cx="4819669" cy="4819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34566"/>
            <a:r>
              <a:rPr kumimoji="1" lang="en-US" altLang="ja-JP" sz="30169">
                <a:solidFill>
                  <a:srgbClr val="EEF3F8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QR</a:t>
            </a:r>
            <a:endParaRPr kumimoji="1" lang="ja-JP" altLang="en-US" sz="30169">
              <a:solidFill>
                <a:srgbClr val="EEF3F8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5" name="Google Shape;4725;p24">
            <a:extLst>
              <a:ext uri="{FF2B5EF4-FFF2-40B4-BE49-F238E27FC236}">
                <a16:creationId xmlns:a16="http://schemas.microsoft.com/office/drawing/2014/main" id="{9E33858C-A523-E57E-A1DE-E8A80147DE65}"/>
              </a:ext>
            </a:extLst>
          </p:cNvPr>
          <p:cNvSpPr txBox="1"/>
          <p:nvPr/>
        </p:nvSpPr>
        <p:spPr>
          <a:xfrm>
            <a:off x="0" y="3062875"/>
            <a:ext cx="4961515" cy="21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901" tIns="53435" rIns="106901" bIns="53435" anchor="t" anchorCtr="0">
            <a:spAutoFit/>
          </a:bodyPr>
          <a:lstStyle/>
          <a:p>
            <a:pPr algn="ctr" defTabSz="534566">
              <a:lnSpc>
                <a:spcPct val="150000"/>
              </a:lnSpc>
            </a:pPr>
            <a:r>
              <a:rPr lang="ja-JP" altLang="en-US" sz="4400" b="1" dirty="0">
                <a:solidFill>
                  <a:srgbClr val="041F36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「クラスコード」</a:t>
            </a:r>
            <a:endParaRPr lang="en-US" altLang="ja-JP" sz="4400" b="1" dirty="0">
              <a:solidFill>
                <a:srgbClr val="041F36"/>
              </a:solidFill>
              <a:latin typeface="MS gothic" panose="020B0609070205080204" pitchFamily="49" charset="-128"/>
              <a:ea typeface="MS gothic" panose="020B0609070205080204" pitchFamily="49" charset="-128"/>
              <a:cs typeface="Meiryo"/>
              <a:sym typeface="Meiryo"/>
            </a:endParaRPr>
          </a:p>
          <a:p>
            <a:pPr algn="ctr" defTabSz="534566">
              <a:lnSpc>
                <a:spcPct val="150000"/>
              </a:lnSpc>
            </a:pPr>
            <a:r>
              <a:rPr lang="en-US" altLang="ja-JP" sz="4400" b="1" dirty="0">
                <a:solidFill>
                  <a:schemeClr val="accent5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Meiryo"/>
                <a:sym typeface="Meiryo"/>
              </a:rPr>
              <a:t>XXXXX</a:t>
            </a:r>
            <a:endParaRPr lang="ja-JP" altLang="en-US" sz="4400" b="1" dirty="0">
              <a:solidFill>
                <a:schemeClr val="accent5"/>
              </a:solidFill>
              <a:latin typeface="MS gothic" panose="020B0609070205080204" pitchFamily="49" charset="-128"/>
              <a:ea typeface="MS gothic" panose="020B0609070205080204" pitchFamily="49" charset="-128"/>
              <a:cs typeface="Meiryo"/>
              <a:sym typeface="Meiryo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C37FA72-D199-9CD2-7FDB-DDF1EE41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Classroom</a:t>
            </a:r>
            <a:r>
              <a:rPr lang="ja-JP" altLang="en-US" dirty="0"/>
              <a:t>の招待</a:t>
            </a:r>
          </a:p>
        </p:txBody>
      </p:sp>
    </p:spTree>
    <p:extLst>
      <p:ext uri="{BB962C8B-B14F-4D97-AF65-F5344CB8AC3E}">
        <p14:creationId xmlns:p14="http://schemas.microsoft.com/office/powerpoint/2010/main" val="384227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デザインの設定">
  <a:themeElements>
    <a:clrScheme name="ユーザー定義 1">
      <a:dk1>
        <a:srgbClr val="041F36"/>
      </a:dk1>
      <a:lt1>
        <a:srgbClr val="EEF3F8"/>
      </a:lt1>
      <a:dk2>
        <a:srgbClr val="CFE2F3"/>
      </a:dk2>
      <a:lt2>
        <a:srgbClr val="9FC5E8"/>
      </a:lt2>
      <a:accent1>
        <a:srgbClr val="729DC5"/>
      </a:accent1>
      <a:accent2>
        <a:srgbClr val="506E88"/>
      </a:accent2>
      <a:accent3>
        <a:srgbClr val="CCEAF6"/>
      </a:accent3>
      <a:accent4>
        <a:srgbClr val="FFFFFF"/>
      </a:accent4>
      <a:accent5>
        <a:srgbClr val="FF42A1"/>
      </a:accent5>
      <a:accent6>
        <a:srgbClr val="00A2FF"/>
      </a:accent6>
      <a:hlink>
        <a:srgbClr val="041F36"/>
      </a:hlink>
      <a:folHlink>
        <a:srgbClr val="0097A7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b685593d1bfe4eff517bfc45d0cc3978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83852fcbe415addbf3b7e0ef013261fd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D1B4B2-8267-41FA-B70F-72E915FDC9FC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a9997899-e6ea-448c-9370-6665c1cb1ca9"/>
    <ds:schemaRef ds:uri="http://schemas.microsoft.com/office/infopath/2007/PartnerControls"/>
    <ds:schemaRef ds:uri="http://schemas.openxmlformats.org/package/2006/metadata/core-properties"/>
    <ds:schemaRef ds:uri="4952ab04-0ae3-4d00-bda6-702fdc5fffa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EC6D245-4EC0-423E-8C37-F61F037163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34A265-2323-477B-99C6-407DC52E7E2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52ab04-0ae3-4d00-bda6-702fdc5fffab"/>
    <ds:schemaRef ds:uri="a9997899-e6ea-448c-9370-6665c1cb1ca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1758</Words>
  <Application>Microsoft Office PowerPoint</Application>
  <PresentationFormat>ユーザー設定</PresentationFormat>
  <Paragraphs>205</Paragraphs>
  <Slides>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32</vt:i4>
      </vt:variant>
    </vt:vector>
  </HeadingPairs>
  <TitlesOfParts>
    <vt:vector size="41" baseType="lpstr">
      <vt:lpstr>MS gothic</vt:lpstr>
      <vt:lpstr>MS gothic</vt:lpstr>
      <vt:lpstr>ＭＳ 明朝</vt:lpstr>
      <vt:lpstr>メイリオ</vt:lpstr>
      <vt:lpstr>游ゴシック</vt:lpstr>
      <vt:lpstr>Arial</vt:lpstr>
      <vt:lpstr>Wingdings</vt:lpstr>
      <vt:lpstr>Office テーマ</vt:lpstr>
      <vt:lpstr>デザインの設定</vt:lpstr>
      <vt:lpstr>実験体験会</vt:lpstr>
      <vt:lpstr>1 mL以下の溶液を正確に量り取りたい！</vt:lpstr>
      <vt:lpstr>ピペットマン(オートピペット)</vt:lpstr>
      <vt:lpstr>メスピペット</vt:lpstr>
      <vt:lpstr>ホールピペット</vt:lpstr>
      <vt:lpstr>安全ピペッターの使い方</vt:lpstr>
      <vt:lpstr>駒込ピペット</vt:lpstr>
      <vt:lpstr>各ピペットの精度は正確なの？</vt:lpstr>
      <vt:lpstr>今回使うピペット</vt:lpstr>
      <vt:lpstr>メニスカスを意識する</vt:lpstr>
      <vt:lpstr>実際に定容してみよう！</vt:lpstr>
      <vt:lpstr>実際に定容してみよう！</vt:lpstr>
      <vt:lpstr>精度の違い -ピペット-</vt:lpstr>
      <vt:lpstr>1 mL以上の溶液を正確に量り取りたい！</vt:lpstr>
      <vt:lpstr>ビーカー</vt:lpstr>
      <vt:lpstr>メスシリンダ</vt:lpstr>
      <vt:lpstr>メスフラスコ</vt:lpstr>
      <vt:lpstr>大量の溶液は正確に量れるの？</vt:lpstr>
      <vt:lpstr>今回使う定容器具</vt:lpstr>
      <vt:lpstr>実際に定容してみよう！</vt:lpstr>
      <vt:lpstr>実際に定容してみよう！</vt:lpstr>
      <vt:lpstr>洗浄ビン</vt:lpstr>
      <vt:lpstr>精度の違い -定容器具-</vt:lpstr>
      <vt:lpstr>統計学の勧め</vt:lpstr>
      <vt:lpstr>片付け</vt:lpstr>
      <vt:lpstr>定容器具の洗浄</vt:lpstr>
      <vt:lpstr>注意事項</vt:lpstr>
      <vt:lpstr>そのほかの器具の洗浄</vt:lpstr>
      <vt:lpstr>なぜ最後に精製水をかけるのか？</vt:lpstr>
      <vt:lpstr>最後に</vt:lpstr>
      <vt:lpstr>入会について</vt:lpstr>
      <vt:lpstr>Classroomの招待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実験体験会</dc:title>
  <dc:creator/>
  <cp:lastModifiedBy/>
  <cp:revision>4</cp:revision>
  <dcterms:created xsi:type="dcterms:W3CDTF">2026-05-01T16:23:03Z</dcterms:created>
  <dcterms:modified xsi:type="dcterms:W3CDTF">2026-05-15T19:45:53Z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