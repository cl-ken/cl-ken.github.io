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27"/>
  </p:notesMasterIdLst>
  <p:sldIdLst>
    <p:sldId id="258" r:id="rId2"/>
    <p:sldId id="259" r:id="rId3"/>
    <p:sldId id="323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97" r:id="rId12"/>
    <p:sldId id="267" r:id="rId13"/>
    <p:sldId id="292" r:id="rId14"/>
    <p:sldId id="305" r:id="rId15"/>
    <p:sldId id="322" r:id="rId16"/>
    <p:sldId id="309" r:id="rId17"/>
    <p:sldId id="324" r:id="rId18"/>
    <p:sldId id="311" r:id="rId19"/>
    <p:sldId id="312" r:id="rId20"/>
    <p:sldId id="314" r:id="rId21"/>
    <p:sldId id="319" r:id="rId22"/>
    <p:sldId id="320" r:id="rId23"/>
    <p:sldId id="321" r:id="rId24"/>
    <p:sldId id="290" r:id="rId25"/>
    <p:sldId id="294" r:id="rId26"/>
  </p:sldIdLst>
  <p:sldSz cx="12192000" cy="6858000"/>
  <p:notesSz cx="9144000" cy="6858000"/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 userDrawn="1">
          <p15:clr>
            <a:srgbClr val="A4A3A4"/>
          </p15:clr>
        </p15:guide>
        <p15:guide id="2" pos="19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F8F7"/>
    <a:srgbClr val="000000"/>
    <a:srgbClr val="FF9933"/>
    <a:srgbClr val="729DC5"/>
    <a:srgbClr val="9FC5E8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61" autoAdjust="0"/>
    <p:restoredTop sz="94660"/>
  </p:normalViewPr>
  <p:slideViewPr>
    <p:cSldViewPr snapToGrid="0">
      <p:cViewPr>
        <p:scale>
          <a:sx n="100" d="100"/>
          <a:sy n="100" d="100"/>
        </p:scale>
        <p:origin x="1422" y="390"/>
      </p:cViewPr>
      <p:guideLst>
        <p:guide orient="horz" pos="1440"/>
        <p:guide pos="19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2026/5/10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7" y="2367959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1" y="-5866"/>
            <a:ext cx="1864099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1" y="3383901"/>
            <a:ext cx="1864099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9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9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73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8" y="1687513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6"/>
            <a:ext cx="487672" cy="5091711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9" y="1927356"/>
            <a:ext cx="748107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7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5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13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5" y="4873441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 sz="1200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 sz="1200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 sz="1200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 sz="1200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5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13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7" y="5141170"/>
            <a:ext cx="1172327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7" y="620098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4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7" y="4158978"/>
            <a:ext cx="797099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29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9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17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60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3" y="6827975"/>
            <a:ext cx="567903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6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9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40" y="6498035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6" y="5137431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6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1" y="5178298"/>
            <a:ext cx="35259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5" y="5150200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5" y="5192824"/>
            <a:ext cx="34535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7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401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5" y="5122056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3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7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7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3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5" y="3435541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3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7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7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3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3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3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3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9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9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8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13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51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6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5" y="828639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5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3" tIns="91343" rIns="91343" bIns="91343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7" y="4304927"/>
            <a:ext cx="797099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1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9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9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5" y="6571527"/>
            <a:ext cx="81883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6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5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89" y="6140135"/>
            <a:ext cx="57275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3" y="6052471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7" y="4368322"/>
            <a:ext cx="106155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6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40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71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6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8643BE5-B6E9-503D-1071-FE3824CFBD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5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13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7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5" y="6063891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71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72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7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7" y="5189685"/>
            <a:ext cx="1231535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8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91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24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91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8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4" y="5821224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4" y="570375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4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4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4" y="5351724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4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4" y="6524891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4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4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4" y="617285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4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 userDrawn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3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3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3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3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3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3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3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3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3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3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5" y="6466423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1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3" tIns="91343" rIns="91343" bIns="91343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9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90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9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7" y="6571527"/>
            <a:ext cx="81883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6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9" y="6209676"/>
            <a:ext cx="53595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7" y="6140135"/>
            <a:ext cx="57275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7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91" y="6052471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5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5" y="498113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5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5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5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5" y="455303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5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5" y="5623306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5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5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5" y="530240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5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5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5" y="6051771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5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5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5" y="5730506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5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5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7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9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0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37275-CD1E-4A39-AA66-D4D0A328BDAF}" type="datetimeFigureOut">
              <a:rPr kumimoji="1" lang="ja-JP" altLang="en-US" smtClean="0"/>
              <a:t>2026/5/10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33091-41A4-49A9-BD4D-3AE2B1A7EEE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8440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  <p:sldLayoutId id="2147483689" r:id="rId16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4202E72-8993-D2F4-2B98-05E850B730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6267" y="2443957"/>
            <a:ext cx="3601583" cy="3601583"/>
          </a:xfrm>
          <a:prstGeom prst="rect">
            <a:avLst/>
          </a:prstGeom>
        </p:spPr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69648" y="892926"/>
            <a:ext cx="10094822" cy="907216"/>
          </a:xfrm>
        </p:spPr>
        <p:txBody>
          <a:bodyPr/>
          <a:lstStyle/>
          <a:p>
            <a:r>
              <a:rPr kumimoji="1" lang="ja-JP" altLang="en-US" sz="5400" dirty="0">
                <a:latin typeface="+mj-ea"/>
                <a:ea typeface="+mj-ea"/>
              </a:rPr>
              <a:t>バイオサイエンス学術研究会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69648" y="1963727"/>
            <a:ext cx="10094822" cy="349572"/>
          </a:xfrm>
        </p:spPr>
        <p:txBody>
          <a:bodyPr/>
          <a:lstStyle/>
          <a:p>
            <a:r>
              <a:rPr kumimoji="1" lang="ja-JP" altLang="en-US" dirty="0"/>
              <a:t>実験長 寺谷優輝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100" y="6176198"/>
            <a:ext cx="8474517" cy="505453"/>
          </a:xfrm>
        </p:spPr>
        <p:txBody>
          <a:bodyPr/>
          <a:lstStyle/>
          <a:p>
            <a:r>
              <a:rPr lang="ja-JP" altLang="en-US" sz="2800" dirty="0"/>
              <a:t>第 </a:t>
            </a:r>
            <a:r>
              <a:rPr lang="en-US" altLang="ja-JP" sz="2800" dirty="0">
                <a:latin typeface="+mj-lt"/>
              </a:rPr>
              <a:t>1 </a:t>
            </a:r>
            <a:r>
              <a:rPr lang="ja-JP" altLang="en-US" sz="2800" dirty="0"/>
              <a:t>回 サークル説明会 </a:t>
            </a:r>
            <a:r>
              <a:rPr lang="en-US" altLang="ja-JP" sz="2800" dirty="0">
                <a:latin typeface="+mn-lt"/>
              </a:rPr>
              <a:t>2026. 05. 19. Tue.</a:t>
            </a:r>
            <a:endParaRPr lang="ja-JP" altLang="en-US" sz="2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</a:rPr>
              <a:t>01</a:t>
            </a:r>
            <a:endParaRPr kumimoji="1" lang="ja-JP" altLang="en-US" dirty="0">
              <a:latin typeface="+mj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>
                <a:latin typeface="+mj-ea"/>
                <a:ea typeface="+mj-ea"/>
              </a:rPr>
              <a:t>顧問からのお話</a:t>
            </a:r>
            <a:endParaRPr kumimoji="1" lang="ja-JP" altLang="en-US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10D70F6-4FC3-6A2F-1073-6A849E1C3A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ja-JP" dirty="0">
                <a:latin typeface="+mj-lt"/>
              </a:rPr>
              <a:t>02</a:t>
            </a:r>
            <a:endParaRPr kumimoji="1" lang="ja-JP" altLang="en-US" dirty="0">
              <a:latin typeface="+mj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363CD21-D127-D32B-7287-AB3C0C4525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>
                <a:latin typeface="+mj-ea"/>
                <a:ea typeface="+mj-ea"/>
              </a:rPr>
              <a:t>年間予定について</a:t>
            </a:r>
          </a:p>
        </p:txBody>
      </p:sp>
    </p:spTree>
    <p:extLst>
      <p:ext uri="{BB962C8B-B14F-4D97-AF65-F5344CB8AC3E}">
        <p14:creationId xmlns:p14="http://schemas.microsoft.com/office/powerpoint/2010/main" val="13260543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3373484"/>
              </p:ext>
            </p:extLst>
          </p:nvPr>
        </p:nvGraphicFramePr>
        <p:xfrm>
          <a:off x="1110128" y="1423962"/>
          <a:ext cx="9971743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1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内容</a:t>
                      </a:r>
                    </a:p>
                  </a:txBody>
                  <a:tcPr anchor="ctr">
                    <a:solidFill>
                      <a:srgbClr val="729D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>
                          <a:latin typeface="+mn-ea"/>
                          <a:ea typeface="+mn-ea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</a:t>
                      </a:r>
                      <a:r>
                        <a:rPr kumimoji="1" lang="ja-JP" altLang="en-US" sz="2400" dirty="0">
                          <a:latin typeface="+mj-lt"/>
                          <a:ea typeface="+mj-ea"/>
                        </a:rPr>
                        <a:t>←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 今ココ</a:t>
                      </a:r>
                      <a:r>
                        <a:rPr kumimoji="1" lang="ja-JP" altLang="en-US" sz="2400" dirty="0">
                          <a:latin typeface="+mj-lt"/>
                          <a:ea typeface="+mj-ea"/>
                        </a:rPr>
                        <a:t>！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  <a:endParaRPr kumimoji="1" lang="ja-JP" altLang="en-US" sz="240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，学部祭飲食店の出店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飲食店の運営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イベント何をする？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7" y="1515676"/>
            <a:ext cx="9511553" cy="435766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  <a:latin typeface="+mj-ea"/>
                <a:ea typeface="+mj-ea"/>
              </a:rPr>
              <a:t>交流会</a:t>
            </a:r>
            <a:r>
              <a:rPr kumimoji="1" lang="ja-JP" altLang="en-US" sz="3600" dirty="0">
                <a:latin typeface="+mj-ea"/>
                <a:ea typeface="+mj-ea"/>
              </a:rPr>
              <a:t>をしたい！</a:t>
            </a:r>
            <a:endParaRPr kumimoji="1" lang="en-US" altLang="ja-JP" sz="3600" dirty="0">
              <a:latin typeface="+mj-ea"/>
              <a:ea typeface="+mj-ea"/>
            </a:endParaRPr>
          </a:p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  <a:latin typeface="+mj-ea"/>
                <a:ea typeface="+mj-ea"/>
              </a:rPr>
              <a:t>勉強会</a:t>
            </a:r>
            <a:r>
              <a:rPr kumimoji="1" lang="ja-JP" altLang="en-US" sz="3600" dirty="0">
                <a:latin typeface="+mj-ea"/>
                <a:ea typeface="+mj-ea"/>
              </a:rPr>
              <a:t>をしたい！</a:t>
            </a:r>
            <a:endParaRPr kumimoji="1" lang="en-US" altLang="ja-JP" sz="3600" dirty="0">
              <a:latin typeface="+mj-ea"/>
              <a:ea typeface="+mj-ea"/>
            </a:endParaRPr>
          </a:p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  <a:latin typeface="+mj-ea"/>
                <a:ea typeface="+mj-ea"/>
              </a:rPr>
              <a:t>合宿</a:t>
            </a:r>
            <a:r>
              <a:rPr kumimoji="1" lang="ja-JP" altLang="en-US" sz="3600" dirty="0">
                <a:latin typeface="+mj-ea"/>
                <a:ea typeface="+mj-ea"/>
              </a:rPr>
              <a:t>をしたい！　　など</a:t>
            </a:r>
            <a:endParaRPr kumimoji="1" lang="en-US" altLang="ja-JP" sz="3600" dirty="0">
              <a:latin typeface="+mj-ea"/>
              <a:ea typeface="+mj-ea"/>
            </a:endParaRPr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  <a:latin typeface="+mj-ea"/>
                <a:ea typeface="+mj-ea"/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</a:rPr>
              <a:t>03</a:t>
            </a:r>
            <a:endParaRPr kumimoji="1" lang="ja-JP" altLang="en-US" dirty="0">
              <a:latin typeface="+mj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>
                <a:latin typeface="+mj-ea"/>
                <a:ea typeface="+mj-ea"/>
              </a:rPr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キッチンで作業をしている人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72F79EA-70B0-501D-197A-2F540019AE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8928" y="2075460"/>
            <a:ext cx="4885887" cy="3639487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349510" y="1551022"/>
            <a:ext cx="6356090" cy="39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3600" b="1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春季実験</a:t>
            </a:r>
            <a:r>
              <a:rPr lang="ja-JP" altLang="en-US" sz="36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6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20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lt"/>
                <a:ea typeface="+mj-ea"/>
                <a:cs typeface="Meiryo"/>
                <a:sym typeface="Meiryo"/>
              </a:rPr>
              <a:t>→</a:t>
            </a: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 新入生に向けた，実験を行います．</a:t>
            </a:r>
            <a:endParaRPr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indent="358766">
              <a:lnSpc>
                <a:spcPct val="20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一昨年は「</a:t>
            </a:r>
            <a:r>
              <a:rPr lang="ja-JP" altLang="en-US" sz="28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indent="358766">
              <a:lnSpc>
                <a:spcPct val="20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7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51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3600" b="1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夏季実験</a:t>
            </a:r>
            <a:endParaRPr lang="en-US" altLang="ja-JP" sz="3600" b="1" dirty="0">
              <a:solidFill>
                <a:schemeClr val="accent5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lt"/>
                <a:ea typeface="+mj-ea"/>
                <a:cs typeface="Meiryo"/>
                <a:sym typeface="Meiryo"/>
              </a:rPr>
              <a:t>→</a:t>
            </a: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 春期実験で行った内容を，</a:t>
            </a:r>
            <a:endParaRPr lang="en-US" altLang="ja-JP"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indent="358766">
              <a:lnSpc>
                <a:spcPct val="20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進展させて行う予定です！</a:t>
            </a:r>
            <a:endParaRPr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790575" y="1704759"/>
            <a:ext cx="5896929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3600" b="1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学部祭での展示・発表</a:t>
            </a:r>
            <a:endParaRPr lang="en-US" altLang="ja-JP" sz="3600" b="1" dirty="0">
              <a:solidFill>
                <a:schemeClr val="accent5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lt"/>
                <a:ea typeface="+mj-ea"/>
                <a:cs typeface="Meiryo"/>
                <a:sym typeface="Meiryo"/>
              </a:rPr>
              <a:t>→</a:t>
            </a: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 夏季実験の研究内容をまとめ，</a:t>
            </a:r>
            <a:endParaRPr lang="en-US" altLang="ja-JP"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indent="358766"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8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13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6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3EAE9A55-FC9B-5155-CBA4-083294406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693" y="3463400"/>
            <a:ext cx="3792034" cy="213301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DB070AC-F334-111E-F604-605EE12AF3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645" y="1571017"/>
            <a:ext cx="4204447" cy="236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F4F2868-9570-B379-45AB-C169B5B1C7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0116" y="1789146"/>
            <a:ext cx="4885885" cy="3664415"/>
          </a:xfrm>
          <a:prstGeom prst="rect">
            <a:avLst/>
          </a:prstGeom>
        </p:spPr>
      </p:pic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C19EAB99-4666-07C2-7449-9792E81591F2}"/>
              </a:ext>
            </a:extLst>
          </p:cNvPr>
          <p:cNvSpPr txBox="1"/>
          <p:nvPr/>
        </p:nvSpPr>
        <p:spPr>
          <a:xfrm>
            <a:off x="6560364" y="1789151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3600" b="1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学術部連盟発表会</a:t>
            </a:r>
            <a:endParaRPr lang="en-US" altLang="ja-JP" sz="3600" b="1" dirty="0">
              <a:solidFill>
                <a:schemeClr val="accent5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800" dirty="0">
                <a:solidFill>
                  <a:schemeClr val="dk1"/>
                </a:solidFill>
                <a:latin typeface="+mj-lt"/>
                <a:ea typeface="+mj-ea"/>
                <a:cs typeface="Meiryo"/>
                <a:sym typeface="Meiryo"/>
              </a:rPr>
              <a:t>→</a:t>
            </a:r>
            <a:r>
              <a:rPr lang="ja-JP" altLang="en-US" sz="28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 夏季実験の内容をまとめ，
　 大講堂で発表を行います！</a:t>
            </a:r>
            <a:endParaRPr lang="en-US" altLang="ja-JP" sz="28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7" y="1515676"/>
            <a:ext cx="9511553" cy="435766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  <a:latin typeface="+mj-ea"/>
                <a:ea typeface="+mj-ea"/>
              </a:rPr>
              <a:t>先取りして</a:t>
            </a:r>
            <a:r>
              <a:rPr kumimoji="1" lang="ja-JP" altLang="en-US" sz="3600" dirty="0">
                <a:latin typeface="+mj-ea"/>
                <a:ea typeface="+mj-ea"/>
              </a:rPr>
              <a:t>，実験を行うことができる．</a:t>
            </a:r>
            <a:endParaRPr kumimoji="1" lang="en-US" altLang="ja-JP" sz="3600" dirty="0">
              <a:latin typeface="+mj-ea"/>
              <a:ea typeface="+mj-ea"/>
            </a:endParaRPr>
          </a:p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latin typeface="+mj-ea"/>
                <a:ea typeface="+mj-ea"/>
              </a:rPr>
              <a:t>講義の</a:t>
            </a:r>
            <a:r>
              <a:rPr kumimoji="1" lang="ja-JP" altLang="en-US" sz="3600" dirty="0">
                <a:solidFill>
                  <a:schemeClr val="accent6"/>
                </a:solidFill>
                <a:latin typeface="+mj-ea"/>
                <a:ea typeface="+mj-ea"/>
              </a:rPr>
              <a:t>深い理解</a:t>
            </a:r>
            <a:r>
              <a:rPr kumimoji="1" lang="ja-JP" altLang="en-US" sz="3600" dirty="0">
                <a:latin typeface="+mj-ea"/>
                <a:ea typeface="+mj-ea"/>
              </a:rPr>
              <a:t>が得られる．</a:t>
            </a:r>
            <a:endParaRPr kumimoji="1" lang="en-US" altLang="ja-JP" sz="3600" dirty="0">
              <a:latin typeface="+mj-ea"/>
              <a:ea typeface="+mj-ea"/>
            </a:endParaRPr>
          </a:p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latin typeface="+mj-ea"/>
                <a:ea typeface="+mj-ea"/>
              </a:rPr>
              <a:t>実験や試験，コース分けの</a:t>
            </a:r>
            <a:r>
              <a:rPr kumimoji="1" lang="ja-JP" altLang="en-US" sz="3600" dirty="0">
                <a:solidFill>
                  <a:schemeClr val="accent6"/>
                </a:solidFill>
                <a:latin typeface="+mj-ea"/>
                <a:ea typeface="+mj-ea"/>
              </a:rPr>
              <a:t>詳細を知れる</a:t>
            </a:r>
            <a:r>
              <a:rPr kumimoji="1" lang="ja-JP" altLang="en-US" sz="3600" dirty="0">
                <a:latin typeface="+mj-ea"/>
                <a:ea typeface="+mj-ea"/>
              </a:rPr>
              <a:t>．</a:t>
            </a:r>
            <a:endParaRPr kumimoji="1" lang="en-US" altLang="ja-JP" sz="3600" dirty="0">
              <a:latin typeface="+mj-ea"/>
              <a:ea typeface="+mj-ea"/>
            </a:endParaRPr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  <a:latin typeface="+mj-ea"/>
                <a:ea typeface="+mj-ea"/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</a:rPr>
              <a:t>04</a:t>
            </a:r>
            <a:endParaRPr kumimoji="1" lang="ja-JP" altLang="en-US" dirty="0">
              <a:latin typeface="+mj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>
                <a:latin typeface="+mj-ea"/>
                <a:ea typeface="+mj-ea"/>
              </a:rPr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5F815B8-4BA4-8FD6-B8CC-EFCF70AEAA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7204" y="1477184"/>
            <a:ext cx="5312024" cy="5312024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latin typeface="+mj-lt"/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latin typeface="+mj-lt"/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71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>
                <a:latin typeface="+mj-ea"/>
                <a:ea typeface="+mj-ea"/>
              </a:rPr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EA3EFF2-4EFE-0CF2-0D20-11E9E89D3F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実験体験会について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E3B5FC-DAC6-5FAC-3C2F-9D0FCF9F05E3}"/>
              </a:ext>
            </a:extLst>
          </p:cNvPr>
          <p:cNvSpPr txBox="1"/>
          <p:nvPr/>
        </p:nvSpPr>
        <p:spPr>
          <a:xfrm>
            <a:off x="930368" y="1252045"/>
            <a:ext cx="11261632" cy="517641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+mj-ea"/>
                <a:ea typeface="+mj-ea"/>
              </a:rPr>
              <a:t>持ち物：</a:t>
            </a:r>
            <a:r>
              <a:rPr kumimoji="1" lang="ja-JP" altLang="en-US" sz="3200" dirty="0">
                <a:solidFill>
                  <a:schemeClr val="accent5"/>
                </a:solidFill>
                <a:latin typeface="+mj-ea"/>
                <a:ea typeface="+mj-ea"/>
              </a:rPr>
              <a:t>白衣</a:t>
            </a:r>
            <a:r>
              <a:rPr kumimoji="1" lang="ja-JP" altLang="en-US" sz="3200" dirty="0">
                <a:latin typeface="+mj-lt"/>
                <a:ea typeface="+mj-ea"/>
              </a:rPr>
              <a:t>🥼</a:t>
            </a:r>
            <a:r>
              <a:rPr kumimoji="1" lang="ja-JP" altLang="en-US" sz="3200" dirty="0">
                <a:latin typeface="+mj-ea"/>
                <a:ea typeface="+mj-ea"/>
              </a:rPr>
              <a:t>，筆記用具</a:t>
            </a:r>
            <a:r>
              <a:rPr kumimoji="1" lang="ja-JP" altLang="en-US" sz="3200" dirty="0">
                <a:latin typeface="+mj-lt"/>
                <a:ea typeface="+mj-ea"/>
              </a:rPr>
              <a:t>🖊</a:t>
            </a:r>
            <a:endParaRPr kumimoji="1" lang="en-US" altLang="ja-JP" sz="3200" dirty="0">
              <a:latin typeface="+mj-lt"/>
              <a:ea typeface="+mj-ea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+mj-ea"/>
                <a:ea typeface="+mj-ea"/>
              </a:rPr>
              <a:t>白衣に関しては，</a:t>
            </a:r>
            <a:r>
              <a:rPr kumimoji="1" lang="ja-JP" altLang="en-US" sz="3200" dirty="0">
                <a:solidFill>
                  <a:schemeClr val="accent5"/>
                </a:solidFill>
                <a:latin typeface="+mj-ea"/>
                <a:ea typeface="+mj-ea"/>
              </a:rPr>
              <a:t>購入をお願いします</a:t>
            </a:r>
            <a:r>
              <a:rPr kumimoji="1" lang="ja-JP" altLang="en-US" sz="3200" dirty="0">
                <a:latin typeface="+mj-ea"/>
                <a:ea typeface="+mj-ea"/>
              </a:rPr>
              <a:t>．</a:t>
            </a:r>
            <a:endParaRPr kumimoji="1" lang="en-US" altLang="ja-JP" sz="3200" dirty="0">
              <a:latin typeface="+mj-ea"/>
              <a:ea typeface="+mj-ea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+mj-ea"/>
                <a:ea typeface="+mj-ea"/>
              </a:rPr>
              <a:t>ﾊﾞｲｵｻｲｴﾝｽの方は，</a:t>
            </a:r>
            <a:r>
              <a:rPr kumimoji="1" lang="en-US" altLang="ja-JP" sz="3200" dirty="0">
                <a:latin typeface="+mj-lt"/>
                <a:ea typeface="+mj-ea"/>
              </a:rPr>
              <a:t>1 </a:t>
            </a:r>
            <a:r>
              <a:rPr kumimoji="1" lang="ja-JP" altLang="en-US" sz="3200" dirty="0">
                <a:latin typeface="+mj-ea"/>
                <a:ea typeface="+mj-ea"/>
              </a:rPr>
              <a:t>年後期には購入することになります．</a:t>
            </a:r>
            <a:endParaRPr kumimoji="1" lang="en-US" altLang="ja-JP" sz="3200" dirty="0">
              <a:latin typeface="+mj-ea"/>
              <a:ea typeface="+mj-ea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solidFill>
                  <a:schemeClr val="accent5"/>
                </a:solidFill>
                <a:latin typeface="+mj-ea"/>
                <a:ea typeface="+mj-ea"/>
              </a:rPr>
              <a:t>マニキュアなど付けず</a:t>
            </a:r>
            <a:r>
              <a:rPr kumimoji="1" lang="ja-JP" altLang="en-US" sz="3200" dirty="0">
                <a:latin typeface="+mj-ea"/>
                <a:ea typeface="+mj-ea"/>
              </a:rPr>
              <a:t>，</a:t>
            </a:r>
            <a:r>
              <a:rPr kumimoji="1" lang="ja-JP" altLang="en-US" sz="3200" dirty="0">
                <a:solidFill>
                  <a:schemeClr val="accent5"/>
                </a:solidFill>
                <a:latin typeface="+mj-ea"/>
                <a:ea typeface="+mj-ea"/>
              </a:rPr>
              <a:t>動きやすい靴</a:t>
            </a:r>
            <a:r>
              <a:rPr kumimoji="1" lang="ja-JP" altLang="en-US" sz="3200" dirty="0">
                <a:latin typeface="+mj-ea"/>
                <a:ea typeface="+mj-ea"/>
              </a:rPr>
              <a:t>で参加すること．</a:t>
            </a:r>
            <a:endParaRPr kumimoji="1" lang="en-US" altLang="ja-JP" sz="3200" dirty="0">
              <a:latin typeface="+mj-ea"/>
              <a:ea typeface="+mj-ea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+mj-ea"/>
                <a:ea typeface="+mj-ea"/>
              </a:rPr>
              <a:t>実験室内では白衣の着用が必須です．</a:t>
            </a:r>
            <a:endParaRPr kumimoji="1" lang="en-US" altLang="ja-JP" sz="3200" dirty="0">
              <a:latin typeface="+mj-ea"/>
              <a:ea typeface="+mj-ea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+mj-ea"/>
                <a:ea typeface="+mj-ea"/>
              </a:rPr>
              <a:t>白衣，保護メガネは，立野商店で購入が可能です．</a:t>
            </a:r>
            <a:endParaRPr kumimoji="1" lang="en-US" altLang="ja-JP" sz="3200" dirty="0">
              <a:latin typeface="+mj-ea"/>
              <a:ea typeface="+mj-ea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+mj-ea"/>
                <a:ea typeface="+mj-ea"/>
              </a:rPr>
              <a:t>値段：</a:t>
            </a:r>
            <a:r>
              <a:rPr kumimoji="1" lang="en-US" altLang="ja-JP" sz="3200" dirty="0">
                <a:latin typeface="+mj-lt"/>
                <a:ea typeface="+mj-ea"/>
              </a:rPr>
              <a:t>\ </a:t>
            </a:r>
            <a:r>
              <a:rPr kumimoji="1" lang="en-US" altLang="ja-JP" sz="3200" dirty="0">
                <a:solidFill>
                  <a:schemeClr val="accent6"/>
                </a:solidFill>
                <a:latin typeface="+mj-lt"/>
                <a:ea typeface="+mj-ea"/>
              </a:rPr>
              <a:t>3,440</a:t>
            </a:r>
            <a:r>
              <a:rPr kumimoji="1" lang="ja-JP" altLang="en-US" sz="3200" dirty="0">
                <a:latin typeface="+mj-ea"/>
                <a:ea typeface="+mj-ea"/>
              </a:rPr>
              <a:t>（</a:t>
            </a:r>
            <a:r>
              <a:rPr kumimoji="1" lang="en-US" altLang="ja-JP" sz="3200" dirty="0">
                <a:latin typeface="+mj-lt"/>
                <a:ea typeface="+mj-ea"/>
              </a:rPr>
              <a:t>S </a:t>
            </a:r>
            <a:r>
              <a:rPr kumimoji="1" lang="ja-JP" altLang="en-US" sz="3200" dirty="0">
                <a:latin typeface="+mj-lt"/>
                <a:ea typeface="+mj-ea"/>
              </a:rPr>
              <a:t>～ </a:t>
            </a:r>
            <a:r>
              <a:rPr kumimoji="1" lang="en-US" altLang="ja-JP" sz="3200" dirty="0">
                <a:latin typeface="+mj-lt"/>
                <a:ea typeface="+mj-ea"/>
              </a:rPr>
              <a:t>L</a:t>
            </a:r>
            <a:r>
              <a:rPr kumimoji="1" lang="ja-JP" altLang="en-US" sz="3200" dirty="0">
                <a:latin typeface="+mj-ea"/>
                <a:ea typeface="+mj-ea"/>
              </a:rPr>
              <a:t>），</a:t>
            </a:r>
            <a:r>
              <a:rPr kumimoji="1" lang="en-US" altLang="ja-JP" sz="3200" dirty="0">
                <a:latin typeface="+mj-lt"/>
                <a:ea typeface="+mj-ea"/>
              </a:rPr>
              <a:t>\ 3,540</a:t>
            </a:r>
            <a:r>
              <a:rPr kumimoji="1" lang="ja-JP" altLang="en-US" sz="3200" dirty="0">
                <a:latin typeface="+mj-ea"/>
                <a:ea typeface="+mj-ea"/>
              </a:rPr>
              <a:t>（</a:t>
            </a:r>
            <a:r>
              <a:rPr kumimoji="1" lang="en-US" altLang="ja-JP" sz="3200" dirty="0">
                <a:latin typeface="+mj-lt"/>
                <a:ea typeface="+mj-ea"/>
              </a:rPr>
              <a:t>LL</a:t>
            </a:r>
            <a:r>
              <a:rPr kumimoji="1" lang="ja-JP" altLang="en-US" sz="3200" dirty="0">
                <a:latin typeface="+mj-ea"/>
                <a:ea typeface="+mj-ea"/>
              </a:rPr>
              <a:t>）</a:t>
            </a:r>
            <a:endParaRPr kumimoji="1" lang="en-US" altLang="ja-JP" sz="32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6334247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06E21-84FC-A71C-1A3D-B5230C473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AEA84A7-086B-EFBB-3E8F-966204B950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</a:rPr>
              <a:t>05</a:t>
            </a:r>
            <a:endParaRPr kumimoji="1" lang="ja-JP" altLang="en-US" dirty="0">
              <a:latin typeface="+mj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9D9A54-666A-D998-8F63-0AF1313419E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>
                <a:latin typeface="+mj-ea"/>
                <a:ea typeface="+mj-ea"/>
              </a:rPr>
              <a:t>今後の連絡について</a:t>
            </a:r>
          </a:p>
        </p:txBody>
      </p:sp>
    </p:spTree>
    <p:extLst>
      <p:ext uri="{BB962C8B-B14F-4D97-AF65-F5344CB8AC3E}">
        <p14:creationId xmlns:p14="http://schemas.microsoft.com/office/powerpoint/2010/main" val="30190050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519420C-F1E6-38BB-47BD-05E316736E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グループへの招待</a:t>
            </a:r>
          </a:p>
        </p:txBody>
      </p:sp>
      <p:pic>
        <p:nvPicPr>
          <p:cNvPr id="4" name="図 3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1678F71-BF91-5D00-D161-640570444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9371" y="1267240"/>
            <a:ext cx="5495925" cy="5495925"/>
          </a:xfrm>
          <a:prstGeom prst="rect">
            <a:avLst/>
          </a:prstGeom>
        </p:spPr>
      </p:pic>
      <p:sp>
        <p:nvSpPr>
          <p:cNvPr id="5" name="Google Shape;4725;p24">
            <a:extLst>
              <a:ext uri="{FF2B5EF4-FFF2-40B4-BE49-F238E27FC236}">
                <a16:creationId xmlns:a16="http://schemas.microsoft.com/office/drawing/2014/main" id="{9E33858C-A523-E57E-A1DE-E8A80147DE65}"/>
              </a:ext>
            </a:extLst>
          </p:cNvPr>
          <p:cNvSpPr txBox="1"/>
          <p:nvPr/>
        </p:nvSpPr>
        <p:spPr>
          <a:xfrm>
            <a:off x="335099" y="2925771"/>
            <a:ext cx="4944268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32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大学のメールアドレス</a:t>
            </a:r>
            <a:r>
              <a:rPr lang="ja-JP" altLang="en-US" sz="32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で</a:t>
            </a:r>
            <a:endParaRPr lang="en-US" altLang="ja-JP" sz="32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ja-JP" altLang="en-US" sz="32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ログインしてください．</a:t>
            </a:r>
            <a:endParaRPr lang="ja-JP" altLang="en-US"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1486407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3C6C7-8DDD-A0FD-81B0-A493ACA33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2ACB44DB-3920-617A-5A8D-8E3E113427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42" t="8696" r="17323"/>
          <a:stretch>
            <a:fillRect/>
          </a:stretch>
        </p:blipFill>
        <p:spPr>
          <a:xfrm>
            <a:off x="1523999" y="0"/>
            <a:ext cx="9144001" cy="6857999"/>
          </a:xfrm>
          <a:prstGeom prst="rect">
            <a:avLst/>
          </a:prstGeom>
        </p:spPr>
      </p:pic>
      <p:sp>
        <p:nvSpPr>
          <p:cNvPr id="5" name="吹き出し: 角を丸めた四角形 4">
            <a:extLst>
              <a:ext uri="{FF2B5EF4-FFF2-40B4-BE49-F238E27FC236}">
                <a16:creationId xmlns:a16="http://schemas.microsoft.com/office/drawing/2014/main" id="{1161B7EF-67D1-1F48-5E09-685ACC37C9D3}"/>
              </a:ext>
            </a:extLst>
          </p:cNvPr>
          <p:cNvSpPr/>
          <p:nvPr/>
        </p:nvSpPr>
        <p:spPr>
          <a:xfrm>
            <a:off x="5019141" y="786760"/>
            <a:ext cx="1251884" cy="352612"/>
          </a:xfrm>
          <a:prstGeom prst="wedgeRoundRectCallout">
            <a:avLst>
              <a:gd name="adj1" fmla="val -21215"/>
              <a:gd name="adj2" fmla="val 84972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solidFill>
                  <a:schemeClr val="tx1"/>
                </a:solidFill>
                <a:latin typeface="+mj-ea"/>
                <a:ea typeface="+mj-ea"/>
              </a:rPr>
              <a:t>クリック</a:t>
            </a:r>
          </a:p>
        </p:txBody>
      </p:sp>
    </p:spTree>
    <p:extLst>
      <p:ext uri="{BB962C8B-B14F-4D97-AF65-F5344CB8AC3E}">
        <p14:creationId xmlns:p14="http://schemas.microsoft.com/office/powerpoint/2010/main" val="25209584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7BDCA15-1DD1-CF06-AABC-6188A23514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58" t="8629" r="17259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54732DD-8B98-E26E-3984-362C32C7822A}"/>
              </a:ext>
            </a:extLst>
          </p:cNvPr>
          <p:cNvSpPr/>
          <p:nvPr/>
        </p:nvSpPr>
        <p:spPr>
          <a:xfrm>
            <a:off x="4706471" y="2510117"/>
            <a:ext cx="2716305" cy="277907"/>
          </a:xfrm>
          <a:prstGeom prst="rect">
            <a:avLst/>
          </a:prstGeom>
          <a:solidFill>
            <a:schemeClr val="accent3">
              <a:lumMod val="75000"/>
              <a:alpha val="3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吹き出し: 角を丸めた四角形 4">
            <a:extLst>
              <a:ext uri="{FF2B5EF4-FFF2-40B4-BE49-F238E27FC236}">
                <a16:creationId xmlns:a16="http://schemas.microsoft.com/office/drawing/2014/main" id="{BE4F884A-19C9-9CE9-639B-CB2126732C38}"/>
              </a:ext>
            </a:extLst>
          </p:cNvPr>
          <p:cNvSpPr/>
          <p:nvPr/>
        </p:nvSpPr>
        <p:spPr>
          <a:xfrm>
            <a:off x="4772398" y="2034988"/>
            <a:ext cx="1251884" cy="352612"/>
          </a:xfrm>
          <a:prstGeom prst="wedgeRoundRectCallout">
            <a:avLst>
              <a:gd name="adj1" fmla="val -21215"/>
              <a:gd name="adj2" fmla="val 84972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solidFill>
                  <a:schemeClr val="tx1"/>
                </a:solidFill>
                <a:latin typeface="+mj-ea"/>
                <a:ea typeface="+mj-ea"/>
              </a:rPr>
              <a:t>クリック</a:t>
            </a:r>
          </a:p>
        </p:txBody>
      </p:sp>
    </p:spTree>
    <p:extLst>
      <p:ext uri="{BB962C8B-B14F-4D97-AF65-F5344CB8AC3E}">
        <p14:creationId xmlns:p14="http://schemas.microsoft.com/office/powerpoint/2010/main" val="21767702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0C41AE3-2FDC-5014-B5C8-E017A3CF7D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58" t="8629" r="17259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FE1FBA5-B9D7-83B5-2B61-26A5D8A7EC3B}"/>
              </a:ext>
            </a:extLst>
          </p:cNvPr>
          <p:cNvSpPr/>
          <p:nvPr/>
        </p:nvSpPr>
        <p:spPr>
          <a:xfrm>
            <a:off x="6359525" y="2593975"/>
            <a:ext cx="3146425" cy="3524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800" dirty="0">
                <a:solidFill>
                  <a:schemeClr val="tx1"/>
                </a:solidFill>
                <a:latin typeface="Inter 28pt bold" panose="02000503000000020004" pitchFamily="2" charset="0"/>
                <a:ea typeface="Inter 28pt bold" panose="02000503000000020004" pitchFamily="2" charset="0"/>
              </a:rPr>
              <a:t>br</a:t>
            </a:r>
            <a:r>
              <a:rPr kumimoji="1" lang="en-US" altLang="ja-JP" sz="1800" dirty="0">
                <a:solidFill>
                  <a:srgbClr val="00B0F0"/>
                </a:solidFill>
                <a:latin typeface="Inter 28pt bold" panose="02000503000000020004" pitchFamily="2" charset="0"/>
                <a:ea typeface="Inter 28pt bold" panose="02000503000000020004" pitchFamily="2" charset="0"/>
              </a:rPr>
              <a:t>xx</a:t>
            </a:r>
            <a:r>
              <a:rPr kumimoji="1" lang="en-US" altLang="ja-JP" sz="1800" dirty="0">
                <a:solidFill>
                  <a:srgbClr val="FF9933"/>
                </a:solidFill>
                <a:latin typeface="Inter 28pt bold" panose="02000503000000020004" pitchFamily="2" charset="0"/>
                <a:ea typeface="Inter 28pt bold" panose="02000503000000020004" pitchFamily="2" charset="0"/>
              </a:rPr>
              <a:t>yy</a:t>
            </a:r>
            <a:r>
              <a:rPr kumimoji="1" lang="en-US" altLang="ja-JP" sz="1800" dirty="0">
                <a:solidFill>
                  <a:schemeClr val="accent5"/>
                </a:solidFill>
                <a:latin typeface="Inter 28pt bold" panose="02000503000000020004" pitchFamily="2" charset="0"/>
                <a:ea typeface="Inter 28pt bold" panose="02000503000000020004" pitchFamily="2" charset="0"/>
              </a:rPr>
              <a:t>zzz</a:t>
            </a:r>
            <a:r>
              <a:rPr kumimoji="1" lang="en-US" altLang="ja-JP" sz="1800" dirty="0">
                <a:solidFill>
                  <a:schemeClr val="tx1"/>
                </a:solidFill>
                <a:latin typeface="Inter 28pt bold" panose="02000503000000020004" pitchFamily="2" charset="0"/>
                <a:ea typeface="Inter 28pt bold" panose="02000503000000020004" pitchFamily="2" charset="0"/>
              </a:rPr>
              <a:t>@g.nihon-u.ac.jp</a:t>
            </a:r>
            <a:endParaRPr kumimoji="1" lang="ja-JP" altLang="en-US" sz="1800" dirty="0">
              <a:solidFill>
                <a:schemeClr val="tx1"/>
              </a:solidFill>
              <a:latin typeface="Inter 28pt bold" panose="02000503000000020004" pitchFamily="2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35ABAFE-F7F5-3A8C-E4E1-4A262AEF0AB5}"/>
              </a:ext>
            </a:extLst>
          </p:cNvPr>
          <p:cNvSpPr txBox="1"/>
          <p:nvPr/>
        </p:nvSpPr>
        <p:spPr>
          <a:xfrm>
            <a:off x="1676400" y="4987642"/>
            <a:ext cx="10103224" cy="16893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en-US" altLang="ja-JP" sz="2400" dirty="0">
                <a:solidFill>
                  <a:srgbClr val="00B0F0"/>
                </a:solidFill>
                <a:latin typeface="Inter 28pt bold" panose="02000503000000020004" pitchFamily="2" charset="0"/>
                <a:ea typeface="Inter 28pt bold" panose="02000503000000020004" pitchFamily="2" charset="0"/>
              </a:rPr>
              <a:t>xx</a:t>
            </a:r>
            <a:r>
              <a:rPr kumimoji="1" lang="en-US" altLang="ja-JP" sz="2400" dirty="0">
                <a:latin typeface="Inter 28pt bold" panose="02000503000000020004" pitchFamily="2" charset="0"/>
                <a:ea typeface="Inter 28pt bold" panose="02000503000000020004" pitchFamily="2" charset="0"/>
              </a:rPr>
              <a:t>: 	</a:t>
            </a:r>
            <a:r>
              <a:rPr kumimoji="1" lang="ja-JP" altLang="en-US" sz="2400" dirty="0">
                <a:latin typeface="Noto Sans JP Bold" panose="020B0200000000000000" pitchFamily="50" charset="-128"/>
                <a:ea typeface="Noto Sans JP Bold" panose="020B0200000000000000" pitchFamily="50" charset="-128"/>
              </a:rPr>
              <a:t>名前をローマ字にした時の最初 </a:t>
            </a:r>
            <a:r>
              <a:rPr kumimoji="1" lang="en-US" altLang="ja-JP" sz="2400" dirty="0">
                <a:latin typeface="Noto Sans JP SemiBold" panose="020B0200000000000000" pitchFamily="50" charset="-128"/>
                <a:ea typeface="Noto Sans JP SemiBold" panose="020B0200000000000000" pitchFamily="50" charset="-128"/>
              </a:rPr>
              <a:t>or </a:t>
            </a:r>
            <a:r>
              <a:rPr kumimoji="1" lang="en-US" altLang="ja-JP" sz="2400" dirty="0">
                <a:latin typeface="Inter 28pt bold" panose="02000503000000020004" pitchFamily="2" charset="0"/>
                <a:ea typeface="Inter 28pt bold" panose="02000503000000020004" pitchFamily="2" charset="0"/>
              </a:rPr>
              <a:t>1 </a:t>
            </a:r>
            <a:r>
              <a:rPr kumimoji="1" lang="ja-JP" altLang="en-US" sz="2400" dirty="0">
                <a:latin typeface="Noto Sans JP Bold" panose="020B0200000000000000" pitchFamily="50" charset="-128"/>
                <a:ea typeface="Noto Sans JP Bold" panose="020B0200000000000000" pitchFamily="50" charset="-128"/>
              </a:rPr>
              <a:t>つ飛ばし の </a:t>
            </a:r>
            <a:r>
              <a:rPr kumimoji="1" lang="en-US" altLang="ja-JP" sz="2400" dirty="0">
                <a:latin typeface="Inter 28pt bold" panose="02000503000000020004" pitchFamily="2" charset="0"/>
                <a:ea typeface="Inter 28pt bold" panose="02000503000000020004" pitchFamily="2" charset="0"/>
              </a:rPr>
              <a:t>2 </a:t>
            </a:r>
            <a:r>
              <a:rPr kumimoji="1" lang="ja-JP" altLang="en-US" sz="2400" dirty="0">
                <a:latin typeface="Noto Sans JP Bold" panose="020B0200000000000000" pitchFamily="50" charset="-128"/>
                <a:ea typeface="Noto Sans JP Bold" panose="020B0200000000000000" pitchFamily="50" charset="-128"/>
              </a:rPr>
              <a:t>文字</a:t>
            </a:r>
            <a:endParaRPr kumimoji="1" lang="en-US" altLang="ja-JP" sz="2400" dirty="0">
              <a:latin typeface="Noto Sans JP Bold" panose="020B0200000000000000" pitchFamily="50" charset="-128"/>
              <a:ea typeface="Noto Sans JP Bold" panose="020B0200000000000000" pitchFamily="50" charset="-128"/>
            </a:endParaRP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en-US" altLang="ja-JP" sz="2400" dirty="0" err="1">
                <a:solidFill>
                  <a:srgbClr val="FF9933"/>
                </a:solidFill>
                <a:latin typeface="Inter 28pt bold" panose="02000503000000020004" pitchFamily="2" charset="0"/>
                <a:ea typeface="Inter 28pt bold" panose="02000503000000020004" pitchFamily="2" charset="0"/>
              </a:rPr>
              <a:t>yy</a:t>
            </a:r>
            <a:r>
              <a:rPr kumimoji="1" lang="en-US" altLang="ja-JP" sz="2400" dirty="0">
                <a:latin typeface="Inter 28pt bold" panose="02000503000000020004" pitchFamily="2" charset="0"/>
                <a:ea typeface="Inter 28pt bold" panose="02000503000000020004" pitchFamily="2" charset="0"/>
              </a:rPr>
              <a:t>: 	</a:t>
            </a:r>
            <a:r>
              <a:rPr kumimoji="1" lang="ja-JP" altLang="en-US" sz="2400" dirty="0">
                <a:latin typeface="Noto Sans JP Bold" panose="020B0200000000000000" pitchFamily="50" charset="-128"/>
                <a:ea typeface="Noto Sans JP Bold" panose="020B0200000000000000" pitchFamily="50" charset="-128"/>
              </a:rPr>
              <a:t>入学年度</a:t>
            </a:r>
            <a:endParaRPr kumimoji="1" lang="en-US" altLang="ja-JP" sz="2400" dirty="0">
              <a:latin typeface="Noto Sans JP Bold" panose="020B0200000000000000" pitchFamily="50" charset="-128"/>
              <a:ea typeface="Noto Sans JP Bold" panose="020B0200000000000000" pitchFamily="50" charset="-128"/>
            </a:endParaRP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en-US" altLang="ja-JP" sz="2400" dirty="0">
                <a:solidFill>
                  <a:schemeClr val="accent5"/>
                </a:solidFill>
                <a:latin typeface="Inter 28pt bold" panose="02000503000000020004" pitchFamily="2" charset="0"/>
                <a:ea typeface="Inter 28pt bold" panose="02000503000000020004" pitchFamily="2" charset="0"/>
              </a:rPr>
              <a:t>zzz</a:t>
            </a:r>
            <a:r>
              <a:rPr kumimoji="1" lang="en-US" altLang="ja-JP" sz="2400" dirty="0">
                <a:latin typeface="Inter 28pt bold" panose="02000503000000020004" pitchFamily="2" charset="0"/>
                <a:ea typeface="Inter 28pt bold" panose="02000503000000020004" pitchFamily="2" charset="0"/>
              </a:rPr>
              <a:t>: 	</a:t>
            </a:r>
            <a:r>
              <a:rPr kumimoji="1" lang="ja-JP" altLang="en-US" sz="2400" dirty="0">
                <a:latin typeface="Noto Sans JP Bold" panose="020B0200000000000000" pitchFamily="50" charset="-128"/>
                <a:ea typeface="Noto Sans JP Bold" panose="020B0200000000000000" pitchFamily="50" charset="-128"/>
              </a:rPr>
              <a:t>学生番号の下 </a:t>
            </a:r>
            <a:r>
              <a:rPr kumimoji="1" lang="en-US" altLang="ja-JP" sz="2400" dirty="0">
                <a:latin typeface="Inter 28pt bold" panose="02000503000000020004" pitchFamily="2" charset="0"/>
                <a:ea typeface="Inter 28pt bold" panose="02000503000000020004" pitchFamily="2" charset="0"/>
              </a:rPr>
              <a:t>3 </a:t>
            </a:r>
            <a:r>
              <a:rPr kumimoji="1" lang="ja-JP" altLang="en-US" sz="2400" dirty="0">
                <a:latin typeface="Noto Sans JP Bold" panose="020B0200000000000000" pitchFamily="50" charset="-128"/>
                <a:ea typeface="Noto Sans JP Bold" panose="020B0200000000000000" pitchFamily="50" charset="-128"/>
              </a:rPr>
              <a:t>桁</a:t>
            </a:r>
          </a:p>
        </p:txBody>
      </p:sp>
      <p:sp>
        <p:nvSpPr>
          <p:cNvPr id="6" name="吹き出し: 角を丸めた四角形 5">
            <a:extLst>
              <a:ext uri="{FF2B5EF4-FFF2-40B4-BE49-F238E27FC236}">
                <a16:creationId xmlns:a16="http://schemas.microsoft.com/office/drawing/2014/main" id="{B8F824FF-4214-66B9-98F3-F3F5C97C1A58}"/>
              </a:ext>
            </a:extLst>
          </p:cNvPr>
          <p:cNvSpPr/>
          <p:nvPr/>
        </p:nvSpPr>
        <p:spPr>
          <a:xfrm>
            <a:off x="6283324" y="1577789"/>
            <a:ext cx="2860676" cy="726232"/>
          </a:xfrm>
          <a:prstGeom prst="wedgeRoundRectCallout">
            <a:avLst>
              <a:gd name="adj1" fmla="val -21215"/>
              <a:gd name="adj2" fmla="val 84972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solidFill>
                  <a:schemeClr val="tx1"/>
                </a:solidFill>
                <a:latin typeface="+mj-ea"/>
                <a:ea typeface="+mj-ea"/>
              </a:rPr>
              <a:t>大学のメールアドレス</a:t>
            </a:r>
            <a:endParaRPr kumimoji="1" lang="en-US" altLang="ja-JP" sz="2000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/>
            <a:r>
              <a:rPr kumimoji="1" lang="ja-JP" altLang="en-US" sz="2000" dirty="0">
                <a:solidFill>
                  <a:schemeClr val="tx1"/>
                </a:solidFill>
                <a:latin typeface="+mj-ea"/>
                <a:ea typeface="+mj-ea"/>
              </a:rPr>
              <a:t>でログイン</a:t>
            </a:r>
          </a:p>
        </p:txBody>
      </p:sp>
    </p:spTree>
    <p:extLst>
      <p:ext uri="{BB962C8B-B14F-4D97-AF65-F5344CB8AC3E}">
        <p14:creationId xmlns:p14="http://schemas.microsoft.com/office/powerpoint/2010/main" val="32843257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D4E91-2D72-694D-E8AA-AF9ECB8E5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94D5A85-C14F-5394-D736-A042263B2E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58" t="8629" r="17259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7C773E-9717-0C23-15D6-92A1F4E9F27B}"/>
              </a:ext>
            </a:extLst>
          </p:cNvPr>
          <p:cNvSpPr/>
          <p:nvPr/>
        </p:nvSpPr>
        <p:spPr>
          <a:xfrm>
            <a:off x="4559301" y="2057401"/>
            <a:ext cx="3146425" cy="3524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600" dirty="0">
                <a:solidFill>
                  <a:schemeClr val="tx1"/>
                </a:solidFill>
                <a:latin typeface="Inter 28pt bold" panose="02000503000000020004" pitchFamily="2" charset="0"/>
                <a:ea typeface="Inter 28pt bold" panose="02000503000000020004" pitchFamily="2" charset="0"/>
              </a:rPr>
              <a:t>brxxyyzzz@g.nihon-u.ac.jp</a:t>
            </a:r>
            <a:endParaRPr kumimoji="1" lang="ja-JP" altLang="en-US" sz="1600" dirty="0">
              <a:solidFill>
                <a:schemeClr val="tx1"/>
              </a:solidFill>
              <a:latin typeface="Inter 28pt bold" panose="02000503000000020004" pitchFamily="2" charset="0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A8A4B81-8F90-CECB-35FA-B1D4D672F2F5}"/>
              </a:ext>
            </a:extLst>
          </p:cNvPr>
          <p:cNvSpPr/>
          <p:nvPr/>
        </p:nvSpPr>
        <p:spPr>
          <a:xfrm>
            <a:off x="4559301" y="2555876"/>
            <a:ext cx="3146425" cy="3524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600" dirty="0">
                <a:solidFill>
                  <a:schemeClr val="tx1"/>
                </a:solidFill>
                <a:latin typeface="Noto Sans JP Bold" panose="020B0200000000000000" pitchFamily="50" charset="-128"/>
                <a:ea typeface="Noto Sans JP Bold" panose="020B0200000000000000" pitchFamily="50" charset="-128"/>
              </a:rPr>
              <a:t>配布されたパスワード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FBD7520-3551-89A6-4079-2724E0D31887}"/>
              </a:ext>
            </a:extLst>
          </p:cNvPr>
          <p:cNvSpPr txBox="1"/>
          <p:nvPr/>
        </p:nvSpPr>
        <p:spPr>
          <a:xfrm>
            <a:off x="1524000" y="4467226"/>
            <a:ext cx="9144000" cy="14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ja-JP" sz="2000" dirty="0">
                <a:solidFill>
                  <a:schemeClr val="bg1"/>
                </a:solidFill>
                <a:latin typeface="Noto Sans JP Bold" panose="020B0200000000000000" pitchFamily="50" charset="-128"/>
                <a:ea typeface="Noto Sans JP Bold" panose="020B0200000000000000" pitchFamily="50" charset="-128"/>
              </a:rPr>
              <a:t>【 </a:t>
            </a:r>
            <a:r>
              <a:rPr kumimoji="1" lang="ja-JP" altLang="en-US" sz="2000" dirty="0">
                <a:solidFill>
                  <a:srgbClr val="FFFF00"/>
                </a:solidFill>
                <a:latin typeface="Noto Sans JP Bold" panose="020B0200000000000000" pitchFamily="50" charset="-128"/>
                <a:ea typeface="Noto Sans JP Bold" panose="020B0200000000000000" pitchFamily="50" charset="-128"/>
              </a:rPr>
              <a:t>⚠ 注意 </a:t>
            </a:r>
            <a:r>
              <a:rPr kumimoji="1" lang="en-US" altLang="ja-JP" sz="2000" dirty="0">
                <a:solidFill>
                  <a:schemeClr val="bg1"/>
                </a:solidFill>
                <a:latin typeface="Noto Sans JP Bold" panose="020B0200000000000000" pitchFamily="50" charset="-128"/>
                <a:ea typeface="Noto Sans JP Bold" panose="020B0200000000000000" pitchFamily="50" charset="-128"/>
              </a:rPr>
              <a:t>】</a:t>
            </a:r>
          </a:p>
          <a:p>
            <a:pPr>
              <a:lnSpc>
                <a:spcPct val="150000"/>
              </a:lnSpc>
            </a:pPr>
            <a:r>
              <a:rPr kumimoji="1" lang="ja-JP" altLang="en-US" sz="2000" dirty="0">
                <a:solidFill>
                  <a:schemeClr val="bg1"/>
                </a:solidFill>
                <a:latin typeface="Noto Sans JP Bold" panose="020B0200000000000000" pitchFamily="50" charset="-128"/>
                <a:ea typeface="Noto Sans JP Bold" panose="020B0200000000000000" pitchFamily="50" charset="-128"/>
              </a:rPr>
              <a:t>パスワードは，配布されたものを使い続けないようにしてください．</a:t>
            </a:r>
            <a:endParaRPr kumimoji="1" lang="en-US" altLang="ja-JP" sz="2000" dirty="0">
              <a:solidFill>
                <a:schemeClr val="bg1"/>
              </a:solidFill>
              <a:latin typeface="Noto Sans JP Bold" panose="020B0200000000000000" pitchFamily="50" charset="-128"/>
              <a:ea typeface="Noto Sans JP Bold" panose="020B0200000000000000" pitchFamily="50" charset="-128"/>
            </a:endParaRPr>
          </a:p>
          <a:p>
            <a:pPr>
              <a:lnSpc>
                <a:spcPct val="150000"/>
              </a:lnSpc>
            </a:pPr>
            <a:r>
              <a:rPr kumimoji="1" lang="ja-JP" altLang="en-US" sz="2000" dirty="0">
                <a:solidFill>
                  <a:schemeClr val="bg1"/>
                </a:solidFill>
                <a:latin typeface="Noto Sans JP Bold" panose="020B0200000000000000" pitchFamily="50" charset="-128"/>
                <a:ea typeface="Noto Sans JP Bold" panose="020B0200000000000000" pitchFamily="50" charset="-128"/>
              </a:rPr>
              <a:t>各自で変更することを強く推奨します．</a:t>
            </a:r>
            <a:r>
              <a:rPr kumimoji="1" lang="en-US" altLang="ja-JP" sz="2000" dirty="0">
                <a:solidFill>
                  <a:schemeClr val="bg1"/>
                </a:solidFill>
                <a:latin typeface="Inter 28pt bold" panose="02000503000000020004" pitchFamily="2" charset="0"/>
                <a:ea typeface="Inter 28pt bold" panose="02000503000000020004" pitchFamily="2" charset="0"/>
              </a:rPr>
              <a:t>G-mail </a:t>
            </a:r>
            <a:r>
              <a:rPr kumimoji="1" lang="ja-JP" altLang="en-US" sz="2000" dirty="0">
                <a:solidFill>
                  <a:schemeClr val="bg1"/>
                </a:solidFill>
                <a:latin typeface="Noto Sans JP Bold" panose="020B0200000000000000" pitchFamily="50" charset="-128"/>
                <a:ea typeface="Noto Sans JP Bold" panose="020B0200000000000000" pitchFamily="50" charset="-128"/>
              </a:rPr>
              <a:t>と同じ要領で変更が可能です．</a:t>
            </a:r>
          </a:p>
        </p:txBody>
      </p:sp>
    </p:spTree>
    <p:extLst>
      <p:ext uri="{BB962C8B-B14F-4D97-AF65-F5344CB8AC3E}">
        <p14:creationId xmlns:p14="http://schemas.microsoft.com/office/powerpoint/2010/main" val="17968554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897A2E0-12B0-5FCC-B79C-DB7435FF3D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  <p:sp>
        <p:nvSpPr>
          <p:cNvPr id="4" name="吹き出し: 角を丸めた四角形 3">
            <a:extLst>
              <a:ext uri="{FF2B5EF4-FFF2-40B4-BE49-F238E27FC236}">
                <a16:creationId xmlns:a16="http://schemas.microsoft.com/office/drawing/2014/main" id="{68E27E4F-1851-7579-6D3F-9F7E92C57DEA}"/>
              </a:ext>
            </a:extLst>
          </p:cNvPr>
          <p:cNvSpPr/>
          <p:nvPr/>
        </p:nvSpPr>
        <p:spPr>
          <a:xfrm>
            <a:off x="6799915" y="1909484"/>
            <a:ext cx="2792320" cy="660118"/>
          </a:xfrm>
          <a:prstGeom prst="wedgeRoundRectCallout">
            <a:avLst>
              <a:gd name="adj1" fmla="val -21215"/>
              <a:gd name="adj2" fmla="val 84972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000" dirty="0">
                <a:solidFill>
                  <a:schemeClr val="tx1"/>
                </a:solidFill>
                <a:latin typeface="+mj-lt"/>
                <a:ea typeface="+mj-ea"/>
              </a:rPr>
              <a:t>@g.nihon-u.ac.jp </a:t>
            </a:r>
            <a:r>
              <a:rPr kumimoji="1" lang="ja-JP" altLang="en-US" sz="2000" dirty="0">
                <a:solidFill>
                  <a:schemeClr val="tx1"/>
                </a:solidFill>
                <a:latin typeface="+mj-ea"/>
                <a:ea typeface="+mj-ea"/>
              </a:rPr>
              <a:t>の</a:t>
            </a:r>
            <a:endParaRPr kumimoji="1" lang="en-US" altLang="ja-JP" sz="2000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/>
            <a:r>
              <a:rPr kumimoji="1" lang="ja-JP" altLang="en-US" sz="2000" dirty="0">
                <a:solidFill>
                  <a:schemeClr val="tx1"/>
                </a:solidFill>
                <a:latin typeface="+mj-ea"/>
                <a:ea typeface="+mj-ea"/>
              </a:rPr>
              <a:t>アカウントでログイン</a:t>
            </a:r>
          </a:p>
        </p:txBody>
      </p:sp>
    </p:spTree>
    <p:extLst>
      <p:ext uri="{BB962C8B-B14F-4D97-AF65-F5344CB8AC3E}">
        <p14:creationId xmlns:p14="http://schemas.microsoft.com/office/powerpoint/2010/main" val="30834718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DE0E6F4-12D1-B579-48F5-862A65B8AC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3A42A63-89BB-2E75-6DBC-D40503DB0D7E}"/>
              </a:ext>
            </a:extLst>
          </p:cNvPr>
          <p:cNvSpPr/>
          <p:nvPr/>
        </p:nvSpPr>
        <p:spPr>
          <a:xfrm>
            <a:off x="4833471" y="2209801"/>
            <a:ext cx="4687047" cy="3524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600" dirty="0">
                <a:solidFill>
                  <a:schemeClr val="tx1"/>
                </a:solidFill>
                <a:latin typeface="Noto Sans JP Bold" panose="020B0200000000000000" pitchFamily="50" charset="-128"/>
                <a:ea typeface="Noto Sans JP Bold" panose="020B0200000000000000" pitchFamily="50" charset="-128"/>
              </a:rPr>
              <a:t>日大 しげまる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F896419-4CE5-00D4-B166-DA176E5A3260}"/>
              </a:ext>
            </a:extLst>
          </p:cNvPr>
          <p:cNvSpPr/>
          <p:nvPr/>
        </p:nvSpPr>
        <p:spPr>
          <a:xfrm>
            <a:off x="4833471" y="2584451"/>
            <a:ext cx="4687047" cy="3524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600" dirty="0">
                <a:solidFill>
                  <a:schemeClr val="tx1"/>
                </a:solidFill>
                <a:latin typeface="+mj-lt"/>
                <a:ea typeface="Noto Sans JP Bold" panose="020B0200000000000000" pitchFamily="50" charset="-128"/>
              </a:rPr>
              <a:t>01023456789</a:t>
            </a:r>
            <a:endParaRPr kumimoji="1" lang="ja-JP" altLang="en-US" sz="1600" dirty="0">
              <a:solidFill>
                <a:schemeClr val="tx1"/>
              </a:solidFill>
              <a:latin typeface="+mj-lt"/>
              <a:ea typeface="Noto Sans JP Bold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625237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F68659A-636C-96B5-9F04-FD9DAFD4FC0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60" t="8629" r="17256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963024D-784C-3418-EB60-5A9B3020B538}"/>
              </a:ext>
            </a:extLst>
          </p:cNvPr>
          <p:cNvSpPr/>
          <p:nvPr/>
        </p:nvSpPr>
        <p:spPr>
          <a:xfrm>
            <a:off x="4849345" y="2066927"/>
            <a:ext cx="4687047" cy="3524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600" dirty="0">
                <a:solidFill>
                  <a:schemeClr val="tx1"/>
                </a:solidFill>
                <a:latin typeface="Noto Sans JP Bold" panose="020B0200000000000000" pitchFamily="50" charset="-128"/>
                <a:ea typeface="Noto Sans JP Bold" panose="020B0200000000000000" pitchFamily="50" charset="-128"/>
              </a:rPr>
              <a:t>バイオサイエンス学術研究会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6A1C48F-5A49-BBAB-162A-87B2CB2EE710}"/>
              </a:ext>
            </a:extLst>
          </p:cNvPr>
          <p:cNvSpPr/>
          <p:nvPr/>
        </p:nvSpPr>
        <p:spPr>
          <a:xfrm>
            <a:off x="4849345" y="2457452"/>
            <a:ext cx="4687047" cy="3524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600" dirty="0">
                <a:solidFill>
                  <a:schemeClr val="tx1"/>
                </a:solidFill>
                <a:latin typeface="Noto Sans JP Bold" panose="020B0200000000000000" pitchFamily="50" charset="-128"/>
                <a:ea typeface="Noto Sans JP Bold" panose="020B0200000000000000" pitchFamily="50" charset="-128"/>
              </a:rPr>
              <a:t>学術研究，専門・技術サービス業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C73B5DE-96C4-FE85-AF57-62DDAE1AD40B}"/>
              </a:ext>
            </a:extLst>
          </p:cNvPr>
          <p:cNvSpPr/>
          <p:nvPr/>
        </p:nvSpPr>
        <p:spPr>
          <a:xfrm>
            <a:off x="4849344" y="2847977"/>
            <a:ext cx="4687047" cy="3524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600" dirty="0">
                <a:solidFill>
                  <a:schemeClr val="tx1"/>
                </a:solidFill>
                <a:latin typeface="Noto Sans JP Bold" panose="020B0200000000000000" pitchFamily="50" charset="-128"/>
                <a:ea typeface="Noto Sans JP Bold" panose="020B0200000000000000" pitchFamily="50" charset="-128"/>
              </a:rPr>
              <a:t>学術・開発研究機関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C0E5987-1E82-31B4-64C0-25732B29C4CD}"/>
              </a:ext>
            </a:extLst>
          </p:cNvPr>
          <p:cNvSpPr/>
          <p:nvPr/>
        </p:nvSpPr>
        <p:spPr>
          <a:xfrm>
            <a:off x="4849344" y="3232154"/>
            <a:ext cx="4687047" cy="3524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600" dirty="0">
                <a:solidFill>
                  <a:schemeClr val="tx1"/>
                </a:solidFill>
                <a:latin typeface="+mj-lt"/>
                <a:ea typeface="Noto Sans JP Bold" panose="020B0200000000000000" pitchFamily="50" charset="-128"/>
              </a:rPr>
              <a:t>5 </a:t>
            </a:r>
            <a:r>
              <a:rPr kumimoji="1" lang="ja-JP" altLang="en-US" sz="1600" dirty="0">
                <a:solidFill>
                  <a:schemeClr val="tx1"/>
                </a:solidFill>
                <a:latin typeface="+mj-lt"/>
                <a:ea typeface="Noto Sans JP Bold" panose="020B0200000000000000" pitchFamily="50" charset="-128"/>
              </a:rPr>
              <a:t>～ </a:t>
            </a:r>
            <a:r>
              <a:rPr kumimoji="1" lang="en-US" altLang="ja-JP" sz="1600" dirty="0">
                <a:solidFill>
                  <a:schemeClr val="tx1"/>
                </a:solidFill>
                <a:latin typeface="+mj-lt"/>
                <a:ea typeface="Noto Sans JP Bold" panose="020B0200000000000000" pitchFamily="50" charset="-128"/>
              </a:rPr>
              <a:t>9</a:t>
            </a:r>
            <a:r>
              <a:rPr kumimoji="1" lang="ja-JP" altLang="en-US" sz="1600" dirty="0">
                <a:solidFill>
                  <a:schemeClr val="tx1"/>
                </a:solidFill>
                <a:latin typeface="Noto Sans JP Bold" panose="020B0200000000000000" pitchFamily="50" charset="-128"/>
                <a:ea typeface="Noto Sans JP Bold" panose="020B0200000000000000" pitchFamily="50" charset="-128"/>
              </a:rPr>
              <a:t>人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E97B56A-FE63-9473-7F00-01D7AF658E15}"/>
              </a:ext>
            </a:extLst>
          </p:cNvPr>
          <p:cNvSpPr/>
          <p:nvPr/>
        </p:nvSpPr>
        <p:spPr>
          <a:xfrm>
            <a:off x="4849344" y="3613156"/>
            <a:ext cx="4687047" cy="3524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600" dirty="0">
                <a:solidFill>
                  <a:schemeClr val="tx1"/>
                </a:solidFill>
                <a:latin typeface="+mj-lt"/>
                <a:ea typeface="Noto Sans JP Bold" panose="020B0200000000000000" pitchFamily="50" charset="-128"/>
              </a:rPr>
              <a:t>一般社員 相当</a:t>
            </a:r>
            <a:endParaRPr kumimoji="1" lang="ja-JP" altLang="en-US" sz="1600" dirty="0">
              <a:solidFill>
                <a:schemeClr val="tx1"/>
              </a:solidFill>
              <a:latin typeface="Noto Sans JP Bold" panose="020B0200000000000000" pitchFamily="50" charset="-128"/>
              <a:ea typeface="Noto Sans JP Bold" panose="020B02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0749076-0980-4D0B-5AB2-91BB61DA2163}"/>
              </a:ext>
            </a:extLst>
          </p:cNvPr>
          <p:cNvSpPr/>
          <p:nvPr/>
        </p:nvSpPr>
        <p:spPr>
          <a:xfrm>
            <a:off x="4849344" y="3990977"/>
            <a:ext cx="4687047" cy="3524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600" dirty="0">
                <a:solidFill>
                  <a:schemeClr val="tx1"/>
                </a:solidFill>
                <a:latin typeface="+mj-lt"/>
                <a:ea typeface="Noto Sans JP Bold" panose="020B0200000000000000" pitchFamily="50" charset="-128"/>
              </a:rPr>
              <a:t>その他</a:t>
            </a:r>
            <a:endParaRPr kumimoji="1" lang="ja-JP" altLang="en-US" sz="1600" dirty="0">
              <a:solidFill>
                <a:schemeClr val="tx1"/>
              </a:solidFill>
              <a:latin typeface="Noto Sans JP Bold" panose="020B0200000000000000" pitchFamily="50" charset="-128"/>
              <a:ea typeface="Noto Sans JP Bold" panose="020B0200000000000000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3C51EDF-90C0-B6AE-0566-28B115FC9755}"/>
              </a:ext>
            </a:extLst>
          </p:cNvPr>
          <p:cNvSpPr/>
          <p:nvPr/>
        </p:nvSpPr>
        <p:spPr>
          <a:xfrm>
            <a:off x="4814888" y="1371603"/>
            <a:ext cx="4721503" cy="352425"/>
          </a:xfrm>
          <a:prstGeom prst="rect">
            <a:avLst/>
          </a:prstGeom>
          <a:noFill/>
          <a:ln w="57150"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ja-JP" altLang="en-US" sz="1600" dirty="0">
              <a:solidFill>
                <a:schemeClr val="tx1"/>
              </a:solidFill>
              <a:latin typeface="Noto Sans JP Bold" panose="020B0200000000000000" pitchFamily="50" charset="-128"/>
              <a:ea typeface="Noto Sans JP Bold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813041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>
                <a:latin typeface="+mj-lt"/>
              </a:rPr>
              <a:t>06</a:t>
            </a:r>
            <a:endParaRPr kumimoji="1" lang="ja-JP" altLang="en-US" dirty="0">
              <a:latin typeface="+mj-lt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>
                <a:latin typeface="+mj-ea"/>
                <a:ea typeface="+mj-ea"/>
              </a:rPr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lang="en-US" altLang="ja-JP" sz="8800" dirty="0">
                <a:latin typeface="+mj-lt"/>
              </a:rPr>
              <a:t>Thanks !</a:t>
            </a:r>
            <a:endParaRPr lang="ja-JP" altLang="en-US" sz="8800" dirty="0">
              <a:latin typeface="+mj-lt"/>
            </a:endParaRPr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4" y="4114438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デザインの設定">
  <a:themeElements>
    <a:clrScheme name="ユーザー定義 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CCEAF6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main">
      <a:majorFont>
        <a:latin typeface="Inter 28pt bold"/>
        <a:ea typeface="Noto Sans JP Bold"/>
        <a:cs typeface=""/>
      </a:majorFont>
      <a:minorFont>
        <a:latin typeface="Inter 28pt Medium"/>
        <a:ea typeface="Noto Sans JP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653</TotalTime>
  <Words>547</Words>
  <Application>Microsoft Office PowerPoint</Application>
  <PresentationFormat>ワイド画面</PresentationFormat>
  <Paragraphs>97</Paragraphs>
  <Slides>25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9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25</vt:i4>
      </vt:variant>
    </vt:vector>
  </HeadingPairs>
  <TitlesOfParts>
    <vt:vector size="35" baseType="lpstr">
      <vt:lpstr>ＭＳ ゴシック</vt:lpstr>
      <vt:lpstr>Noto Sans JP Bold</vt:lpstr>
      <vt:lpstr>Noto Sans JP SemiBold</vt:lpstr>
      <vt:lpstr>メイリオ</vt:lpstr>
      <vt:lpstr>メイリオ</vt:lpstr>
      <vt:lpstr>游ゴシック</vt:lpstr>
      <vt:lpstr>Arial</vt:lpstr>
      <vt:lpstr>Inter 28pt bold</vt:lpstr>
      <vt:lpstr>Wingdings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Hojicya</dc:creator>
  <cp:lastModifiedBy>テラヤユウキ</cp:lastModifiedBy>
  <cp:revision>55</cp:revision>
  <cp:lastPrinted>2025-06-03T02:45:41Z</cp:lastPrinted>
  <dcterms:created xsi:type="dcterms:W3CDTF">2025-03-16T19:50:08Z</dcterms:created>
  <dcterms:modified xsi:type="dcterms:W3CDTF">2026-05-09T21:01:20Z</dcterms:modified>
</cp:coreProperties>
</file>